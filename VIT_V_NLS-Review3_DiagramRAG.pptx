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DiagramRAG</a:t>
            </a:r>
          </a:p>
          <a:p>
            <a:pPr lvl="0" algn="ctr">
              <a:defRPr/>
            </a:pPr>
            <a:r>
              <a:rPr lang="en-US" sz="2600" b="1" dirty="0">
                <a:solidFill>
                  <a:prstClr val="white"/>
                </a:solidFill>
                <a:cs typeface="Calibri" panose="020F0502020204030204" pitchFamily="34" charset="0"/>
              </a:rPr>
              <a:t>Layout-Aware Multimodal RAG for Evidence-Grounded Electronics Datasheet Q&amp;A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Student Name   |   Guide: Project Guide Name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B3A"/>
                </a:solidFill>
                <a:latin typeface="Calibri"/>
              </a:rPr>
              <a:t>Electronics datasheets hide answers in tables, pin diagrams and graphs; plain text search and plain LLMs cannot show where an answer came from.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82296" cy="1737360"/>
          </a:xfrm>
          <a:prstGeom prst="rect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3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Dense documents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Specs sit in tables, pinout drawings and curves across 30+ page PDFs.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10312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60" y="2103120"/>
            <a:ext cx="82296" cy="173736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14883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Text-only RAG loses layout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Flattening a PDF drops figures, symbol positions and table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103120"/>
            <a:ext cx="3246120" cy="17373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2103120"/>
            <a:ext cx="82296" cy="1737360"/>
          </a:xfrm>
          <a:prstGeom prst="rect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39"/>
            <a:ext cx="30175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Answers without proof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A fluent but unsourced value is risky when a part is chosen from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69080"/>
            <a:ext cx="10058400" cy="731520"/>
          </a:xfrm>
          <a:prstGeom prst="roundRect">
            <a:avLst>
              <a:gd name="adj" fmla="val 8000"/>
            </a:avLst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DiagramRAG: retrieve layout-aware regions, answer with Gemini, and cite every claim to a region ID and bounding box.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4023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Layout-aware ingestion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Split every datasheet page into regions with bbox, OCR text and crop.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3716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554480"/>
            <a:ext cx="457200" cy="457200"/>
          </a:xfrm>
          <a:prstGeom prst="ellips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4023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Symbol detection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Train YOLOv8 on circuit-diagram symbols and index them as regions.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6324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54680"/>
            <a:ext cx="4023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Hybrid retrieval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Fuse BM25 and dense search; anchor results to the part named in the query.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3246120"/>
            <a:ext cx="457200" cy="457200"/>
          </a:xfrm>
          <a:prstGeom prst="ellipse">
            <a:avLst/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154680"/>
            <a:ext cx="4023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Cited, verifiable answers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Generate with Gemini and reject any citation not in the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46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A6678"/>
                </a:solidFill>
                <a:latin typeface="Calibri"/>
              </a:rPr>
              <a:t>Scope: information retrieval about components, not fault diagnosis or repair.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Module: System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19" name="Pentagon 18"/>
          <p:cNvSpPr/>
          <p:nvPr/>
        </p:nvSpPr>
        <p:spPr>
          <a:xfrm>
            <a:off x="320040" y="1554480"/>
            <a:ext cx="1600200" cy="822960"/>
          </a:xfrm>
          <a:prstGeom prst="homePlate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PDF → page images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Poppler</a:t>
            </a:r>
          </a:p>
        </p:txBody>
      </p:sp>
      <p:sp>
        <p:nvSpPr>
          <p:cNvPr id="21" name="Pentagon 20"/>
          <p:cNvSpPr/>
          <p:nvPr/>
        </p:nvSpPr>
        <p:spPr>
          <a:xfrm>
            <a:off x="2011680" y="1554480"/>
            <a:ext cx="1600200" cy="822960"/>
          </a:xfrm>
          <a:prstGeom prst="homePlate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Layout + 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Regions, bbox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OpenCV, Tesseract</a:t>
            </a:r>
          </a:p>
        </p:txBody>
      </p:sp>
      <p:sp>
        <p:nvSpPr>
          <p:cNvPr id="23" name="Pentagon 22"/>
          <p:cNvSpPr/>
          <p:nvPr/>
        </p:nvSpPr>
        <p:spPr>
          <a:xfrm>
            <a:off x="3703320" y="1554480"/>
            <a:ext cx="1600200" cy="822960"/>
          </a:xfrm>
          <a:prstGeom prst="homePlat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Symbols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610 regions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YOLOv8n</a:t>
            </a:r>
          </a:p>
        </p:txBody>
      </p:sp>
      <p:sp>
        <p:nvSpPr>
          <p:cNvPr id="25" name="Pentagon 24"/>
          <p:cNvSpPr/>
          <p:nvPr/>
        </p:nvSpPr>
        <p:spPr>
          <a:xfrm>
            <a:off x="5394960" y="1554480"/>
            <a:ext cx="1600200" cy="822960"/>
          </a:xfrm>
          <a:prstGeom prst="homePlat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FAISS + BM25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metadata.json</a:t>
            </a:r>
          </a:p>
        </p:txBody>
      </p:sp>
      <p:sp>
        <p:nvSpPr>
          <p:cNvPr id="27" name="Pentagon 26"/>
          <p:cNvSpPr/>
          <p:nvPr/>
        </p:nvSpPr>
        <p:spPr>
          <a:xfrm>
            <a:off x="7086600" y="1554480"/>
            <a:ext cx="1600200" cy="822960"/>
          </a:xfrm>
          <a:prstGeom prst="homePlat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RRF fusion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doc anchoring</a:t>
            </a:r>
          </a:p>
        </p:txBody>
      </p:sp>
      <p:sp>
        <p:nvSpPr>
          <p:cNvPr id="29" name="Pentagon 28"/>
          <p:cNvSpPr/>
          <p:nvPr/>
        </p:nvSpPr>
        <p:spPr>
          <a:xfrm>
            <a:off x="8778240" y="1554480"/>
            <a:ext cx="1600200" cy="822960"/>
          </a:xfrm>
          <a:prstGeom prst="homePlate">
            <a:avLst/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46888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B3A"/>
                </a:solidFill>
                <a:latin typeface="Calibri"/>
              </a:rPr>
              <a:t>Gemini + cited</a:t>
            </a:r>
          </a:p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region IDs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5661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82296" cy="137160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611879"/>
            <a:ext cx="4709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Offline-first embeddings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spaCy 300-d text and OpenCV 256-d image vectors; no model downloads.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5661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3566160"/>
            <a:ext cx="82296" cy="1371600"/>
          </a:xfrm>
          <a:prstGeom prst="rect">
            <a:avLst/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611879"/>
            <a:ext cx="4709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Served as an application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FastAPI /query, Streamlit UI with evidence panel, Docker image.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9784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Given a question about an electronic component, return an answer that is correct, grounded in the datasheet, and traceable to the exact page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688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82296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Wrong part retrieved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Similar names (LM35 vs LM358) crowd each other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4688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2468880"/>
            <a:ext cx="82296" cy="1463040"/>
          </a:xfrm>
          <a:prstGeom prst="rect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5146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Spec table missed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Key numbers sit in tables that rank below prose.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4688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2468880"/>
            <a:ext cx="82296" cy="146304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51460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F8F"/>
                </a:solidFill>
                <a:latin typeface="Calibri"/>
              </a:rPr>
              <a:t>Unverifiable answers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LLMs cite nothing; values vary by manufacturer.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1480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E4F6F3"/>
          </a:solidFill>
          <a:ln w="15875">
            <a:solidFill>
              <a:srgbClr val="1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F8F"/>
                </a:solidFill>
                <a:latin typeface="Calibri"/>
              </a:rPr>
              <a:t>In scope: component information retrieval.   Out of scope: fault diagnosis and repair.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Build 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Dilation + contours on page images; Tesseract OCR per region.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3716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31920" y="1508760"/>
            <a:ext cx="411480" cy="411480"/>
          </a:xfrm>
          <a:prstGeom prst="ellips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Train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011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YOLOv8n on CGHD, 3,269 images, 62 classes, drafter-level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3716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1508760"/>
            <a:ext cx="411480" cy="411480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463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Embed and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011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FAISS IndexFlatIP plus BM25 over 4,195 regions.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004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337560"/>
            <a:ext cx="411480" cy="411480"/>
          </a:xfrm>
          <a:prstGeom prst="ellipse">
            <a:avLst/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Understand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Gemini expands the query and guesses part numbers.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2004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Union of regex, lookup and LLM part detection; scoped RRF; spec-table boost.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32004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60920" y="3337560"/>
            <a:ext cx="411480" cy="411480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2918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Generate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22B3A"/>
                </a:solidFill>
                <a:latin typeface="Calibri"/>
              </a:rPr>
              <a:t>Text and crop images to Gemini; validate cited region IDs.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4937760" cy="411480"/>
          </a:xfrm>
          <a:prstGeom prst="roundRect">
            <a:avLst>
              <a:gd name="adj" fmla="val 20000"/>
            </a:avLst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Vision and OCR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F8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OpenCV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7451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F8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Tesseract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3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F8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Poppler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37743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F8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YOLOv8n (Kaggle GPU)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32588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1325880"/>
            <a:ext cx="4937760" cy="411480"/>
          </a:xfrm>
          <a:prstGeom prst="roundRect">
            <a:avLst>
              <a:gd name="adj" fmla="val 20000"/>
            </a:avLst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87451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FAISS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BM25 (rank_bm25)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237743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spaCy en_core_web_md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377439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Reciprocal rank fusion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15468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154680"/>
            <a:ext cx="4937760" cy="411480"/>
          </a:xfrm>
          <a:prstGeom prst="roundRect">
            <a:avLst>
              <a:gd name="adj" fmla="val 20000"/>
            </a:avLst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6AA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Gemini (google-genai)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703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6AA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Citation validator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0624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6AA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Retry and quota 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15468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3154680"/>
            <a:ext cx="4937760" cy="411480"/>
          </a:xfrm>
          <a:prstGeom prst="roundRect">
            <a:avLst>
              <a:gd name="adj" fmla="val 20000"/>
            </a:avLst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3703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FastAPI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703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Streamlit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20624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0">
                <a:solidFill>
                  <a:srgbClr val="222B3A"/>
                </a:solidFill>
                <a:latin typeface="Calibri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2F8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4,195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indexed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2801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610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symbol regions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9824" y="12801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9 / 9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retrieval checks, 3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28016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1F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62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symbol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F8F"/>
                </a:solidFill>
                <a:latin typeface="Calibri"/>
              </a:rPr>
              <a:t>LM358 supply voltage: same question, two systems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017520"/>
          <a:ext cx="10058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4754880"/>
              </a:tblGrid>
              <a:tr h="434340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1F3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Plain Gemini</a:t>
                      </a:r>
                    </a:p>
                  </a:txBody>
                  <a:tcPr anchor="ctr">
                    <a:solidFill>
                      <a:srgbClr val="1F3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DiagramRAG</a:t>
                      </a:r>
                    </a:p>
                  </a:txBody>
                  <a:tcPr anchor="ctr">
                    <a:solidFill>
                      <a:srgbClr val="1F3F8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B3A"/>
                          </a:solidFill>
                          <a:latin typeface="Calibri"/>
                        </a:rPr>
                        <a:t>Recommended range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3 V to 32 V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3–30 V (LM358/A), 3–36 V (B)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B3A"/>
                          </a:solidFill>
                          <a:latin typeface="Calibri"/>
                        </a:rPr>
                        <a:t>Absolute maximum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32 V (LM358/A), 40 V 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B3A"/>
                          </a:solidFill>
                          <a:latin typeface="Calibri"/>
                        </a:rPr>
                        <a:t>Source shown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A"/>
                          </a:solidFill>
                          <a:latin typeface="Calibri"/>
                        </a:rPr>
                        <a:t>lm358_p4_r003, lm358_p3_r001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4846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678"/>
                </a:solidFill>
                <a:latin typeface="Calibri"/>
              </a:rPr>
              <a:t>Plain Gemini gave one generic range with no source; DiagramRAG gives per-variant values with cited regions.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What was achieved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737360"/>
            <a:ext cx="347472" cy="347472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End-to-end pipeline from PDF to cited answer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304288"/>
            <a:ext cx="347472" cy="347472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58568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YOLOv8 symbol regions indexed with text regions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871215"/>
            <a:ext cx="347472" cy="347472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25496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Stable hybrid retrieval: 9/9 on three runs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3438144"/>
            <a:ext cx="347472" cy="347472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Streamlit UI with evidence panel and Gemini compare mode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005072"/>
            <a:ext cx="347472" cy="347472"/>
          </a:xfrm>
          <a:prstGeom prst="ellipse">
            <a:avLst/>
          </a:prstGeom>
          <a:solidFill>
            <a:srgbClr val="6AA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9352"/>
            <a:ext cx="4480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Dockerised FastAPI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280160"/>
            <a:ext cx="4846320" cy="3429000"/>
          </a:xfrm>
          <a:prstGeom prst="roundRect">
            <a:avLst>
              <a:gd name="adj" fmla="val 8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325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F8F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783080"/>
            <a:ext cx="45720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•  Retrieval information only; no fault diagnosis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•  Free Gemini quota limits eval runs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•  Small corpus of 11 datasheets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•  Add answer-level evaluation set</a:t>
            </a:r>
          </a:p>
          <a:p>
            <a:pPr algn="l"/>
            <a:r>
              <a:rPr sz="1600" b="0">
                <a:solidFill>
                  <a:srgbClr val="222B3A"/>
                </a:solidFill>
                <a:latin typeface="Calibri"/>
              </a:rPr>
              <a:t>•  Larger corpus and hosted deployment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058400" cy="3657600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5583D1"/>
                </a:solidFill>
                <a:latin typeface="+mn-lt"/>
              </a:rPr>
              <a:t>We thank our project guide, the faculty, and LTIMindTree and L&amp;T EduTech for their guidance and support.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058400" cy="3657600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Lewis et al., Retrieval-Augmented Generation for Knowledge-Intensive NLP Tasks, NeurIPS 2020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Thoma et al., A Public Ground-Truth Dataset for Handwritten Circuit Diagram Images (CGHD), 2021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Jocher et al., Ultralytics YOLOv8, 2023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Johnson et al., Billion-scale similarity search with GPUs (FAISS), IEEE Trans. Big Data, 2019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Cormack et al., Reciprocal Rank Fusion outperforms Condorcet and individual rank learning methods, SIGIR 2009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5583D1"/>
                </a:solidFill>
                <a:latin typeface="+mn-lt"/>
              </a:rPr>
              <a:t>Texas Instruments datasheets: LM358, NE555, LM317, TL072, LM393, LM35, INA219, SN74HC00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2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DiagramRAG – Review III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