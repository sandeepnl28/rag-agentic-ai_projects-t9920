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501" r:id="rId15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2" r:id="rId16"/>
    <p:sldId id="2147470503" r:id="rId17"/>
    <p:sldId id="2147470504" r:id="rId18"/>
    <p:sldId id="214747050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>
                <a:solidFill>
                  <a:schemeClr val="bg1"/>
                </a:solidFill>
              </a:rPr>
              <a:t> Program </a:t>
            </a:r>
            <a:endParaRPr lang="en-US" sz="4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Titles</a:t>
            </a:r>
          </a:p>
          <a:p>
            <a:pPr lvl="0" algn="ctr">
              <a:spcBef>
                <a:spcPts val="600"/>
              </a:spcBef>
              <a:defRPr/>
            </a:pPr>
            <a:r>
              <a:rPr lang="en-US" sz="2200" b="1" dirty="0">
                <a:solidFill>
                  <a:prstClr val="white"/>
                </a:solidFill>
                <a:cs typeface="Calibri" panose="020F0502020204030204" pitchFamily="34" charset="0"/>
              </a:rPr>
              <a:t>1.  Autonomous Dataset Forensics Agent for Evidence-Gated Data Quality Investigation, Safe Repair, and Validation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spcBef>
                <a:spcPts val="600"/>
              </a:spcBef>
              <a:defRPr/>
            </a:pPr>
            <a:r>
              <a:rPr lang="en-US" sz="2200" b="1" dirty="0">
                <a:solidFill>
                  <a:prstClr val="white"/>
                </a:solidFill>
                <a:cs typeface="Calibri" panose="020F0502020204030204" pitchFamily="34" charset="0"/>
              </a:rPr>
              <a:t>2.  DiagramRAG: Layout-Aware Multimodal RAG for Evidence-Grounded Electronics Troubleshooting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N. Lakshmi Sandeep(25MML0006)-T9920</a:t>
            </a:r>
          </a:p>
          <a:p>
            <a:pPr lvl="0" algn="ctr">
              <a:defRPr/>
            </a:pPr>
            <a:endParaRPr lang="en-US" sz="18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Problem: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automatic data cleaning is risky – a wrong fix silently corrupts the data.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Approach: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evidence-gated autonomous repair. Investigate, gather evidence, repair only when confidence is at least 0.80, otherwise abstain to human review.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Status at Review II: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tool layer, five agents, API, dashboards and evaluation framework are built; a first 30-trial evaluation is complete.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Now in progress: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extending the agent to verifiable format noise (footnotes, symbols, numbers stored as text) and closing the duplicate-evidence gap.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Runs locally: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CPU-only laptop, qwen3:4b via Ollama, no cloud keys.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Complete and verify the end-to-end pipeline: investigate → diagnose → repair → validate.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Measure safety against two baselines: false-repair rate, autonomy rate, detection recall, diagnosis accuracy.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Close the gaps found in evaluation: no evidence gatherer for duplicates; no repairable class of error with provable safety.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Deliver a live dashboard with downloadable cleaned data and a full audit trail.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300" b="1" i="0" dirty="0">
                <a:solidFill>
                  <a:srgbClr val="5583D1"/>
                </a:solidFill>
                <a:latin typeface="Calibri"/>
                <a:cs typeface="Calibri"/>
              </a:rPr>
              <a:t>Five specialised nodes sharing one state object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Planner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(rule-based) routes each open issue: diagnose → repair → validate.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Investigation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runs every deterministic tool – no LLM.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Diagnosis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is the first LLM use: a hypothesis in strict JSON, then deterministic evidence gatherers.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Repair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applies a fix only if confidence ≥ 0.80 and a safe action exists – on a sandbox copy.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Validation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re-checks the result: accepted, rolled back, or human review.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The graph streams per-node events so the dashboard shows progress live.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Module: Agentic Pipeline (LangGraph)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Evidence per issue: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the LLM proposes a hypothesis; deterministic gatherers supply evidence – data-dictionary rule (0.45), related-column consistency (0.30), distribution (0.15), pattern frequency (0.10).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Confidence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= sum of weights of supporting evidence, capped at 1.0; a repair needs ≥ 0.80.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New evidence type: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repair verification (0.95) – a dry-run proving a repair loses nothing.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Weights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are a documented starting point, to be tuned by ablation.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2100" b="1" i="0" dirty="0">
                <a:solidFill>
                  <a:srgbClr val="1C4D98"/>
                </a:solidFill>
                <a:latin typeface="Calibri"/>
                <a:cs typeface="Calibri"/>
              </a:rPr>
              <a:t>Evaluation plan:</a:t>
            </a:r>
            <a:r>
              <a:rPr lang="en-US" sz="2100" b="0" i="0" dirty="0">
                <a:solidFill>
                  <a:srgbClr val="242424"/>
                </a:solidFill>
                <a:latin typeface="Calibri"/>
                <a:cs typeface="Calibri"/>
              </a:rPr>
              <a:t> inject known corruptions with ground truth; compare with Baseline 1 (rule-based) and Baseline 2 (LLM, no gating); 3 datasets × 10 seeds.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71016"/>
            <a:ext cx="4663440" cy="402336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Datasets: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 Titanic, Adult Income, German Credit (OpenML) plus one real messy table.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Injected corruptions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 (with ground truth): outliers, missing values, category noise, duplicates, date-format noise.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Independent seeds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 (seed, +1, +2, +3) so injectors never pick overlapping rows.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Automatic column selection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 picks clean numeric and text columns.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40" name="EDA table"/>
          <p:cNvGraphicFramePr>
            <a:graphicFrameLocks noGrp="1"/>
          </p:cNvGraphicFramePr>
          <p:nvPr/>
        </p:nvGraphicFramePr>
        <p:xfrm>
          <a:off x="5074920" y="1325880"/>
          <a:ext cx="5806440" cy="3584448"/>
        </p:xfrm>
        <a:graphic>
          <a:graphicData uri="http://schemas.openxmlformats.org/drawingml/2006/table">
            <a:tbl>
              <a:tblPr firstRow="1" band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Column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Noise found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Handling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Actual / Adjusted / Average gross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“$780,000,000” stored as text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Parsed to numbers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Peak, All Time Peak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Footnote marks like 7[2]; 55% / 70% blank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Marks stripped; blanks kept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Tour title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† ‡ and [a] markers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Stripped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Column headers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Hidden non-breaking spaces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Normalized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Ref.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Only footnote markers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Human review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Shows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325, 203, 156 look extreme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Real values – review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EDA caption"/>
          <p:cNvSpPr txBox="1"/>
          <p:nvPr/>
        </p:nvSpPr>
        <p:spPr>
          <a:xfrm>
            <a:off x="5074920" y="4983480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i="1" dirty="0">
                <a:solidFill>
                  <a:srgbClr val="595959"/>
                </a:solidFill>
                <a:latin typeface="Calibri"/>
                <a:cs typeface="Calibri"/>
              </a:rPr>
              <a:t>Real messy table (20 rows × 11 columns) used as a generalisation case study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50" name="Tools table"/>
          <p:cNvGraphicFramePr>
            <a:graphicFrameLocks noGrp="1"/>
          </p:cNvGraphicFramePr>
          <p:nvPr/>
        </p:nvGraphicFramePr>
        <p:xfrm>
          <a:off x="320040" y="1325880"/>
          <a:ext cx="10607040" cy="3511296"/>
        </p:xfrm>
        <a:graphic>
          <a:graphicData uri="http://schemas.openxmlformats.org/drawingml/2006/table">
            <a:tbl>
              <a:tblPr firstRow="1" bandRow="1"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Choice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 / reason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LLM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qwen3:4b via Ollama (thinking off, 512-token cap)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Hypotheses only; thinking mode was far too slow on CPU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Orchestration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LangGraph StateGraph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Routing; streams per-node events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Statistics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pandas, NumPy, SciPy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z-score outliers at 2.5 (not 3.0), distributions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Resilience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tenacity retry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Retries connection errors, not read timeouts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Storage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SQLite via SQLModel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Audit trail and run registry that survive restarts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API / UI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FastAPI + WebSocket, Streamlit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Live pipeline view, report and download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pytest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137 tests passed at the last full run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" name="Tools note"/>
          <p:cNvSpPr txBox="1"/>
          <p:nvPr/>
        </p:nvSpPr>
        <p:spPr>
          <a:xfrm>
            <a:off x="1463040" y="493776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1C4D98"/>
                </a:solidFill>
                <a:latin typeface="Calibri"/>
                <a:cs typeface="Calibri"/>
              </a:rPr>
              <a:t>Why 2.5:</a:t>
            </a:r>
            <a:r>
              <a:rPr lang="en-US" sz="1300" b="0" i="0" dirty="0">
                <a:solidFill>
                  <a:srgbClr val="242424"/>
                </a:solidFill>
                <a:latin typeface="Calibri"/>
                <a:cs typeface="Calibri"/>
              </a:rPr>
              <a:t> on small samples one extreme value inflates the standard deviation and masks its own z-score.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60" name="Milestones"/>
          <p:cNvGraphicFramePr>
            <a:graphicFrameLocks noGrp="1"/>
          </p:cNvGraphicFramePr>
          <p:nvPr/>
        </p:nvGraphicFramePr>
        <p:xfrm>
          <a:off x="320040" y="1371600"/>
          <a:ext cx="10607040" cy="3931920"/>
        </p:xfrm>
        <a:graphic>
          <a:graphicData uri="http://schemas.openxmlformats.org/drawingml/2006/table">
            <a:tbl>
              <a:tblPr firstRow="1" bandRow="1"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Deterministic tool layer (detect / repair / validate)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Five agents, evidence scoring, sandbox, audit trail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FastAPI + WebSocket API and Streamlit dashboards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Evaluation framework and 30-trial run (3 datasets × 10 seeds)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Format-noise detection with verified repair; per-repair rollback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1E6B3A"/>
                          </a:solidFill>
                          <a:latin typeface="Calibri"/>
                          <a:cs typeface="Calibri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E3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Duplicate-evidence gatherer; format-noise benchmark and re-run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8A5A00"/>
                          </a:solidFill>
                          <a:latin typeface="Calibri"/>
                          <a:cs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Download endpoint check; re-run tests on new modules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8A5A00"/>
                          </a:solidFill>
                          <a:latin typeface="Calibri"/>
                          <a:cs typeface="Calibri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Docker build verification; Azure deployment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9B2C2C"/>
                          </a:solidFill>
                          <a:latin typeface="Calibri"/>
                          <a:cs typeface="Calibri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Literature review and final report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i="0" dirty="0">
                          <a:solidFill>
                            <a:srgbClr val="9B2C2C"/>
                          </a:solidFill>
                          <a:latin typeface="Calibri"/>
                          <a:cs typeface="Calibri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sp>
        <p:nvSpPr>
          <p:cNvPr id="70" name="Stage Upload CSV"/>
          <p:cNvSpPr/>
          <p:nvPr/>
        </p:nvSpPr>
        <p:spPr>
          <a:xfrm>
            <a:off x="320040" y="1325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  Upload CSV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Dataset stored; original is never modified</a:t>
            </a:r>
          </a:p>
        </p:txBody>
      </p:sp>
      <p:cxnSp>
        <p:nvCxnSpPr>
          <p:cNvPr id="80" name="Arrow 80"/>
          <p:cNvCxnSpPr/>
          <p:nvPr/>
        </p:nvCxnSpPr>
        <p:spPr>
          <a:xfrm>
            <a:off x="2176272" y="2011680"/>
            <a:ext cx="31089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71" name="Stage Investigation"/>
          <p:cNvSpPr/>
          <p:nvPr/>
        </p:nvSpPr>
        <p:spPr>
          <a:xfrm>
            <a:off x="2514600" y="1325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  Investigation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All deterministic tools run – no LLM</a:t>
            </a:r>
          </a:p>
        </p:txBody>
      </p:sp>
      <p:cxnSp>
        <p:nvCxnSpPr>
          <p:cNvPr id="81" name="Arrow 81"/>
          <p:cNvCxnSpPr/>
          <p:nvPr/>
        </p:nvCxnSpPr>
        <p:spPr>
          <a:xfrm>
            <a:off x="4370832" y="2011680"/>
            <a:ext cx="31089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72" name="Stage Diagnosis"/>
          <p:cNvSpPr/>
          <p:nvPr/>
        </p:nvSpPr>
        <p:spPr>
          <a:xfrm>
            <a:off x="4709160" y="1325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3793A6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  Diagnosis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LLM hypothesis, then deterministic evidence</a:t>
            </a:r>
          </a:p>
        </p:txBody>
      </p:sp>
      <p:cxnSp>
        <p:nvCxnSpPr>
          <p:cNvPr id="82" name="Arrow 82"/>
          <p:cNvCxnSpPr/>
          <p:nvPr/>
        </p:nvCxnSpPr>
        <p:spPr>
          <a:xfrm>
            <a:off x="6565392" y="2011680"/>
            <a:ext cx="31089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73" name="Stage Repair"/>
          <p:cNvSpPr/>
          <p:nvPr/>
        </p:nvSpPr>
        <p:spPr>
          <a:xfrm>
            <a:off x="6903720" y="1325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  Repair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Gate: confidence ≥ 0.80 and a safe action</a:t>
            </a:r>
          </a:p>
        </p:txBody>
      </p:sp>
      <p:cxnSp>
        <p:nvCxnSpPr>
          <p:cNvPr id="83" name="Arrow 83"/>
          <p:cNvCxnSpPr/>
          <p:nvPr/>
        </p:nvCxnSpPr>
        <p:spPr>
          <a:xfrm>
            <a:off x="8759952" y="2011680"/>
            <a:ext cx="310896" cy="0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74" name="Stage Validation"/>
          <p:cNvSpPr/>
          <p:nvPr/>
        </p:nvSpPr>
        <p:spPr>
          <a:xfrm>
            <a:off x="9098280" y="1325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1C4D98"/>
          </a:solidFill>
          <a:ln>
            <a:noFill/>
          </a:ln>
        </p:spPr>
        <p:txBody>
          <a:bodyPr wrap="square" lIns="73152" tIns="45720" rIns="73152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  Validation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Calibri"/>
                <a:cs typeface="Calibri"/>
              </a:rPr>
              <a:t>Independent re-check of the sandbox</a:t>
            </a:r>
          </a:p>
        </p:txBody>
      </p:sp>
      <p:sp>
        <p:nvSpPr>
          <p:cNvPr id="90" name="Planner"/>
          <p:cNvSpPr/>
          <p:nvPr/>
        </p:nvSpPr>
        <p:spPr>
          <a:xfrm>
            <a:off x="320040" y="2880360"/>
            <a:ext cx="10607040" cy="502920"/>
          </a:xfrm>
          <a:prstGeom prst="roundRect">
            <a:avLst>
              <a:gd name="adj" fmla="val 30000"/>
            </a:avLst>
          </a:prstGeom>
          <a:solidFill>
            <a:srgbClr val="EEF3FB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Planner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 (rule-based router): picks the next agent for every open issue and loops until each has a decision</a:t>
            </a:r>
          </a:p>
        </p:txBody>
      </p:sp>
      <p:cxnSp>
        <p:nvCxnSpPr>
          <p:cNvPr id="91" name="Arrow 91"/>
          <p:cNvCxnSpPr/>
          <p:nvPr/>
        </p:nvCxnSpPr>
        <p:spPr>
          <a:xfrm>
            <a:off x="9464040" y="2715768"/>
            <a:ext cx="0" cy="146304"/>
          </a:xfrm>
          <a:prstGeom prst="line">
            <a:avLst/>
          </a:prstGeom>
          <a:ln w="22225">
            <a:solidFill>
              <a:srgbClr val="1C4D98"/>
            </a:solidFill>
            <a:tailEnd type="triangle" w="med" len="med"/>
          </a:ln>
        </p:spPr>
      </p:cxnSp>
      <p:sp>
        <p:nvSpPr>
          <p:cNvPr id="100" name="Outcome Accepted"/>
          <p:cNvSpPr/>
          <p:nvPr/>
        </p:nvSpPr>
        <p:spPr>
          <a:xfrm>
            <a:off x="320040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1E6B3A"/>
                </a:solidFill>
                <a:latin typeface="Calibri"/>
                <a:cs typeface="Calibri"/>
              </a:rPr>
              <a:t>Accepted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b="0" i="0" dirty="0">
                <a:solidFill>
                  <a:srgbClr val="1E6B3A"/>
                </a:solidFill>
                <a:latin typeface="Calibri"/>
                <a:cs typeface="Calibri"/>
              </a:rPr>
              <a:t>Repair kept in the sandbox</a:t>
            </a:r>
          </a:p>
        </p:txBody>
      </p:sp>
      <p:sp>
        <p:nvSpPr>
          <p:cNvPr id="101" name="Outcome Rolled back"/>
          <p:cNvSpPr/>
          <p:nvPr/>
        </p:nvSpPr>
        <p:spPr>
          <a:xfrm>
            <a:off x="3931920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8A5A00"/>
                </a:solidFill>
                <a:latin typeface="Calibri"/>
                <a:cs typeface="Calibri"/>
              </a:rPr>
              <a:t>Rolled back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b="0" i="0" dirty="0">
                <a:solidFill>
                  <a:srgbClr val="8A5A00"/>
                </a:solidFill>
                <a:latin typeface="Calibri"/>
                <a:cs typeface="Calibri"/>
              </a:rPr>
              <a:t>Only this repair is undone; earlier fixes stay</a:t>
            </a:r>
          </a:p>
        </p:txBody>
      </p:sp>
      <p:sp>
        <p:nvSpPr>
          <p:cNvPr id="102" name="Outcome Human review"/>
          <p:cNvSpPr/>
          <p:nvPr/>
        </p:nvSpPr>
        <p:spPr>
          <a:xfrm>
            <a:off x="7543800" y="35661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CE4E4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9B2C2C"/>
                </a:solidFill>
                <a:latin typeface="Calibri"/>
                <a:cs typeface="Calibri"/>
              </a:rPr>
              <a:t>Human review</a:t>
            </a:r>
          </a:p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b="0" i="0" dirty="0">
                <a:solidFill>
                  <a:srgbClr val="9B2C2C"/>
                </a:solidFill>
                <a:latin typeface="Calibri"/>
                <a:cs typeface="Calibri"/>
              </a:rPr>
              <a:t>Low confidence or no safe automatic action</a:t>
            </a:r>
          </a:p>
        </p:txBody>
      </p:sp>
      <p:sp>
        <p:nvSpPr>
          <p:cNvPr id="110" name="Infra"/>
          <p:cNvSpPr/>
          <p:nvPr/>
        </p:nvSpPr>
        <p:spPr>
          <a:xfrm>
            <a:off x="320040" y="4617720"/>
            <a:ext cx="106070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5CFE3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Shared services: </a:t>
            </a:r>
            <a:r>
              <a:rPr lang="en-US" sz="1400" b="1" i="0" dirty="0">
                <a:solidFill>
                  <a:srgbClr val="1C4D98"/>
                </a:solidFill>
                <a:latin typeface="Calibri"/>
                <a:cs typeface="Calibri"/>
              </a:rPr>
              <a:t>audit trail</a:t>
            </a: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 (SQLite)   •   </a:t>
            </a:r>
            <a:r>
              <a:rPr lang="en-US" sz="1400" b="1" i="0" dirty="0">
                <a:solidFill>
                  <a:srgbClr val="1C4D98"/>
                </a:solidFill>
                <a:latin typeface="Calibri"/>
                <a:cs typeface="Calibri"/>
              </a:rPr>
              <a:t>sandbox</a:t>
            </a: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 copies   •   </a:t>
            </a:r>
            <a:r>
              <a:rPr lang="en-US" sz="1400" b="1" i="0" dirty="0">
                <a:solidFill>
                  <a:srgbClr val="1C4D98"/>
                </a:solidFill>
                <a:latin typeface="Calibri"/>
                <a:cs typeface="Calibri"/>
              </a:rPr>
              <a:t>live events</a:t>
            </a: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 (WebSocket) to the dashboard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i="0" dirty="0">
                <a:solidFill>
                  <a:srgbClr val="5583D1"/>
                </a:solidFill>
                <a:latin typeface="Calibri"/>
                <a:cs typeface="Calibr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Problem: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automatic data cleaning is risky – a wrong fix silently corrupts the data.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Approach: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evidence-gated autonomous repair. Investigate, gather evidence, repair only when confidence is at least 0.80, otherwise abstain to human review.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Status at Review II: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tool layer, five agents, API, dashboards and evaluation framework are built; a first 30-trial evaluation is complete.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Now in progress: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extending the agent to verifiable format noise (footnotes, symbols, numbers stored as text) and closing the duplicate-evidence gap.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Runs locally: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CPU-only laptop, qwen3:4b via Ollama, no cloud keys.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i="0" dirty="0">
                <a:solidFill>
                  <a:srgbClr val="5583D1"/>
                </a:solidFill>
                <a:latin typeface="Calibri"/>
                <a:cs typeface="Calibri"/>
              </a:rPr>
              <a:t>Objective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Complete and verify the end-to-end pipeline: investigate → diagnose → repair → validate.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Measure safety against two baselines: false-repair rate, autonomy rate, detection recall, diagnosis accuracy.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Close the gaps found in evaluation: no evidence gatherer for duplicates; no repairable class of error with provable safety.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Deliver a live dashboard with downloadable cleaned data and a full audit trail.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&amp; 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900" b="1" i="0" dirty="0">
                <a:solidFill>
                  <a:srgbClr val="5583D1"/>
                </a:solidFill>
                <a:latin typeface="Calibri"/>
                <a:cs typeface="Calibr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Since Review I, the ingestion, embedding, retrieval, and generation stages have been implemented and tested end-to-end on a real multi-document corpus.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This review covers the retrieval and embedding design, the data used so far, and the working pipeline built to date.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Nine real manufacturer datasheets and one application note are indexed; the system answers live questions through a working API.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900" b="1" i="0" dirty="0">
                <a:solidFill>
                  <a:srgbClr val="5583D1"/>
                </a:solidFill>
                <a:latin typeface="Calibri"/>
                <a:cs typeface="Calibri"/>
              </a:rPr>
              <a:t>Objective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Implement hybrid retrieval combining FAISS dense search and BM25 sparse search with reciprocal rank fusion.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Replace hand-coded synonym rules with LLM-based query understanding, so the system generalizes to new components and phrasing without manual dictionaries.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Train a YOLOv8 circuit-symbol detector and integrate the detected symbols into the retrieval index.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Validate retrieval quality against a hand-built evaluation set covering every indexed datasheet.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&amp; 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Module Name: Retrieval &amp; Embedding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Text and image regions are embedded (spaCy vectors for text, OpenCV color/edge histograms for images) and stored in a FAISS vector index.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Sparse BM25 search runs in parallel on the OCR text; results are combined using reciprocal rank fusion, weighted toward exact keyword matches.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An LLM query-understanding step expands informal questions into datasheet terminology (e.g., “pinout” → “pin configuration and functions”) and detects which specific component is being asked about.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Methodology / Modeling Plan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Stage 1 — Ingestion: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PDF to page images, OpenCV region detection, Tesseract OCR.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Stage 2 — Symbol detection: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YOLOv8 trained on CGHD, applied to datasheet pages, filtered to meaningful component classes.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Stage 3 — Indexing: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text + image embeddings for every region, stored in FAISS with full metadata (document, page, bounding box).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Stage 4 — Retrieval: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hybrid dense + sparse search, LLM query expansion, document-anchoring boost for the detected component.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Stage 5 — Generation: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Gemini answers using only retrieved evidence, with mandatory citation tags validated before the answer is shown.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Name &amp; 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b="1" i="0" dirty="0">
                <a:solidFill>
                  <a:srgbClr val="5583D1"/>
                </a:solidFill>
                <a:latin typeface="Calibri"/>
                <a:cs typeface="Calibri"/>
              </a:rPr>
              <a:t>Data Preprocessing &amp; EDA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Corpus: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9 real manufacturer datasheets (LM358, NE555, LM317, LM741, LM393, TL072, LM35, INA219, SN74HC00) plus an application note on op-amp design mistakes.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3,585 OCR-based regions extracted after layout detection and text extraction across all indexed PDFs.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543 additional circuit-symbol regions added after YOLO detection and class filtering — noise classes such as wire-crossings and junctions were removed.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CGHD training set: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3,269 labeled images across 62 component classes, split by drafter (not by image) to prevent near-duplicate photos of the same circuit leaking between train and validation.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b="1" i="0" dirty="0">
                <a:solidFill>
                  <a:srgbClr val="5583D1"/>
                </a:solidFill>
                <a:latin typeface="Calibri"/>
                <a:cs typeface="Calibri"/>
              </a:rPr>
              <a:t>Approach / Algorithms / Tools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YOLOv8n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trained on Kaggle GPU; CGHD XML annotations converted to YOLO format with a drafter-level 85/15 train/val split.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Hybrid retrieval: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FAISS (IndexFlatIP) + BM25, fused by reciprocal rank fusion, sparse weighted higher than dense for exact part-number matches.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Query understanding and generation: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Google Gemini API (gemini-3.6-flash), structured JSON output for query expansion and part-number extraction.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500" b="1" i="0" dirty="0">
                <a:solidFill>
                  <a:srgbClr val="1C4D98"/>
                </a:solidFill>
                <a:latin typeface="Calibri"/>
                <a:cs typeface="Calibri"/>
              </a:rPr>
              <a:t>Citation validator: </a:t>
            </a:r>
            <a:r>
              <a:rPr lang="en-US" sz="1500" b="0" i="0" dirty="0">
                <a:solidFill>
                  <a:srgbClr val="242424"/>
                </a:solidFill>
                <a:latin typeface="Calibri"/>
                <a:cs typeface="Calibri"/>
              </a:rPr>
              <a:t>every cited region ID is cross-checked against the regions actually retrieved, to catch invented citations before the answer is shown.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Preprocessing, Approach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Project Plan / Milestones Progress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Completed: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ingestion pipeline, OCR, and FAISS indexing — tested on 9 real documents.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Completed: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YOLOv8 symbol detector trained and integrated into the retrieval index.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Completed: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hybrid retrieval with LLM query understanding — implemented, debugged, and evaluated.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Completed: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grounded generation with citation validation, including graceful handling of API quota and network errors.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Completed: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FastAPI backend, Streamlit demo UI, and Docker packaging — working end-to-end.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Next: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content-level evaluation (checking answer correctness, not just correct-document retrieval) and a dynamic document-upload endpoint.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Pipeline Structure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PDF datasheets → page images → OpenCV region detection + YOLO symbol detection → OCR → embeddings → FAISS + BM25 index.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User query → LLM query understanding → hybrid retrieval → top evidence regions (OCR text + crop images).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Evidence → Gemini generation with citation enforcement → citation validator → answer and evidence shown in the UI, with the source region highlighted on the original page.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Milestones &amp; 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973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Lakshmi Sandeep Nidubrolu</cp:lastModifiedBy>
  <cp:revision>14</cp:revision>
  <dcterms:created xsi:type="dcterms:W3CDTF">2024-05-13T10:33:11Z</dcterms:created>
  <dcterms:modified xsi:type="dcterms:W3CDTF">2026-10-05T08:38:38Z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