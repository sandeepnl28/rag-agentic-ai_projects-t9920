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8" r:id="rId14"/>
    <p:sldId id="2147470499" r:id="rId15"/>
    <p:sldId id="2147470500" r:id="rId16"/>
    <p:sldId id="2147470501" r:id="rId17"/>
    <p:sldId id="2147470502" r:id="rId18"/>
    <p:sldId id="214747050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Titles</a:t>
            </a:r>
          </a:p>
          <a:p>
            <a:pPr lvl="0" algn="ctr">
              <a:spcBef>
                <a:spcPts val="600"/>
              </a:spcBef>
              <a:defRPr/>
            </a:pPr>
            <a:r>
              <a:rPr lang="en-US" sz="2200" b="1" dirty="0">
                <a:solidFill>
                  <a:prstClr val="white"/>
                </a:solidFill>
                <a:cs typeface="Calibri" panose="020F0502020204030204" pitchFamily="34" charset="0"/>
              </a:rPr>
              <a:t>1.  Autonomous Dataset Forensics Agent for Evidence-Gated Data Quality Investigation, Safe Repair, and Validation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spcBef>
                <a:spcPts val="600"/>
              </a:spcBef>
              <a:defRPr/>
            </a:pPr>
            <a:r>
              <a:rPr lang="en-US" sz="2200" b="1" dirty="0">
                <a:solidFill>
                  <a:prstClr val="white"/>
                </a:solidFill>
                <a:cs typeface="Calibri" panose="020F0502020204030204" pitchFamily="34" charset="0"/>
              </a:rPr>
              <a:t>2.  DiagramRAG: Layout-Aware Multimodal RAG for Evidence-Grounded Electronics Troubleshooting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N. Lakshmi Sandeep(25MML0006)-T9920</a:t>
            </a:r>
          </a:p>
          <a:p>
            <a:pPr lvl="0" algn="ctr">
              <a:defRPr/>
            </a:pPr>
            <a:endParaRPr lang="en-US" sz="18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Real-world datasets arrive messy: </a:t>
            </a: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missing values, duplicates, outliers, inconsistent labels, mixed date formats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and copy-paste format noise.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Manual cleaning is slow. Fully automatic cleaning is risky – a wrong “fix” silently corrupts the data.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Many LLM-based cleaners act on a guess: no measured confidence, no audit trail, no way to undo.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This project builds an agent that works like a </a:t>
            </a: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forensic analyst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: it investigates, gathers evidence, and repairs only when confidence is high enough.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Otherwise it </a:t>
            </a: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abstains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and sends the issue to a human reviewer – it never blindly guesses.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Runs fully </a:t>
            </a: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local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: CPU-only laptop, local LLM (Ollama, qwen3:4b), no cloud API keys.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514350" indent="-514350">
              <a:lnSpc>
                <a:spcPct val="110000"/>
              </a:lnSpc>
              <a:spcBef>
                <a:spcPts val="6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Detect data-quality issues with deterministic, reproducible tools.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Use the LLM only to form hypotheses; gather evidence with deterministic checks.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Gate every repair on a confidence score (threshold 0.80) and abstain otherwise.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Apply repairs only to a sandbox copy and validate before accepting.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Keep a full audit trail so every decision is traceable.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Evaluate against rule-based and un-gated LLM baselines on corrupted real datasets.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  <p:sp>
        <p:nvSpPr>
          <p:cNvPr id="20" name="Card 20"/>
          <p:cNvSpPr/>
          <p:nvPr/>
        </p:nvSpPr>
        <p:spPr>
          <a:xfrm>
            <a:off x="320040" y="1371600"/>
            <a:ext cx="5166360" cy="3840480"/>
          </a:xfrm>
          <a:prstGeom prst="roundRect">
            <a:avLst>
              <a:gd name="adj" fmla="val 4000"/>
            </a:avLst>
          </a:prstGeom>
          <a:solidFill>
            <a:srgbClr val="E3F4EA"/>
          </a:solidFill>
          <a:ln>
            <a:noFill/>
          </a:ln>
        </p:spPr>
        <p:txBody>
          <a:bodyPr wrap="square" lIns="164592" tIns="109728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dirty="0">
                <a:solidFill>
                  <a:srgbClr val="1E6B3A"/>
                </a:solidFill>
                <a:latin typeface="Calibri"/>
                <a:cs typeface="Calibri"/>
              </a:rPr>
              <a:t>In scope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Tabular CSV data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Issues: missing values, outliers, duplicates, category and date inconsistencies, type / format noise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Evidence-gated auto-repair plus a human-review queue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REST API and live dashboard with downloadable cleaned data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Benchmark on Titanic, Adult Income and German Credit</a:t>
            </a:r>
          </a:p>
        </p:txBody>
      </p:sp>
      <p:sp>
        <p:nvSpPr>
          <p:cNvPr id="21" name="Card 21"/>
          <p:cNvSpPr/>
          <p:nvPr/>
        </p:nvSpPr>
        <p:spPr>
          <a:xfrm>
            <a:off x="5669280" y="1371600"/>
            <a:ext cx="5166360" cy="3840480"/>
          </a:xfrm>
          <a:prstGeom prst="roundRect">
            <a:avLst>
              <a:gd name="adj" fmla="val 4000"/>
            </a:avLst>
          </a:prstGeom>
          <a:solidFill>
            <a:srgbClr val="FFF3D6"/>
          </a:solidFill>
          <a:ln>
            <a:noFill/>
          </a:ln>
        </p:spPr>
        <p:txBody>
          <a:bodyPr wrap="square" lIns="164592" tIns="109728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dirty="0">
                <a:solidFill>
                  <a:srgbClr val="8A5A00"/>
                </a:solidFill>
                <a:latin typeface="Calibri"/>
                <a:cs typeface="Calibri"/>
              </a:rPr>
              <a:t>Out of scope / not yet done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Images, free text and other unstructured data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Very large or streaming data (millions of rows)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Cloud LLMs and API keys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Row-specific outlier correction (human review by design)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Docker build and Azure deployment (prepared, not yet run on real infrastructure)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Surveys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frame cleaning as error detection plus repair, and flag human-in-the-loop and scalability as open challenges [1].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HoloClean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repairs data by probabilistic inference over constraints and statistics [2]; </a:t>
            </a: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Raha / Baran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learn detection and correction from a few labelled tuples [9, 3].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Deequ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introduces “unit tests for data”: declarative constraint checks at scale [4].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Foundation models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reach strong results on cleaning and integration tasks through prompting [5].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LLM agents: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CleanAgent automates column standardization with code-generating agents [6]; ReAct interleaves reasoning and acting [7].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1" i="0" dirty="0">
                <a:solidFill>
                  <a:srgbClr val="1C4D98"/>
                </a:solidFill>
                <a:latin typeface="Calibri"/>
                <a:cs typeface="Calibri"/>
              </a:rPr>
              <a:t>Selective classification</a:t>
            </a:r>
            <a:r>
              <a:rPr lang="en-US" sz="2200" b="0" i="0" dirty="0">
                <a:solidFill>
                  <a:srgbClr val="242424"/>
                </a:solidFill>
                <a:latin typeface="Calibri"/>
                <a:cs typeface="Calibri"/>
              </a:rPr>
              <a:t> studies abstaining when confidence is low, to control risk [8].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  <p:graphicFrame>
        <p:nvGraphicFramePr>
          <p:cNvPr id="30" name="Literature table"/>
          <p:cNvGraphicFramePr>
            <a:graphicFrameLocks noGrp="1"/>
          </p:cNvGraphicFramePr>
          <p:nvPr/>
        </p:nvGraphicFramePr>
        <p:xfrm>
          <a:off x="320040" y="1325880"/>
          <a:ext cx="10607040" cy="3212592"/>
        </p:xfrm>
        <a:graphic>
          <a:graphicData uri="http://schemas.openxmlformats.org/drawingml/2006/table">
            <a:tbl>
              <a:tblPr firstRow="1" band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Core idea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Gap for this project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1C4D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HoloClean [2]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Probabilistic repair using constraints and data statistics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Optimizes repair accuracy; per-issue evidence trail and abstention are not the focus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Raha / Baran [9, 3]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Few-shot learned error detection and correction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Needs user-labelled tuples (about 20); not agentic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Deequ [4]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Declarative data-quality constraints at scale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Verifies and flags; does not diagnose or repair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Foundation models [5]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Prompting large models for cleaning tasks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No gating of actions on evidence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CleanAgent [6]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LLM agents generate standardization code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Confidence gate and rollback are not core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Selective classification [8]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Reject option when confidence is low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Built for classifiers, not repair actions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7E5"/>
                      </a:solidFill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Gap note"/>
          <p:cNvSpPr/>
          <p:nvPr/>
        </p:nvSpPr>
        <p:spPr>
          <a:xfrm>
            <a:off x="320040" y="461772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</p:spPr>
        <p:txBody>
          <a:bodyPr wrap="square" lIns="164592" tIns="45720" rIns="13716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50" b="1" i="0" dirty="0">
                <a:solidFill>
                  <a:srgbClr val="1C4D98"/>
                </a:solidFill>
                <a:latin typeface="Calibri"/>
                <a:cs typeface="Calibri"/>
              </a:rPr>
              <a:t>Gap addressed:</a:t>
            </a:r>
            <a:r>
              <a:rPr lang="en-US" sz="1450" b="0" i="0" dirty="0">
                <a:solidFill>
                  <a:srgbClr val="242424"/>
                </a:solidFill>
                <a:latin typeface="Calibri"/>
                <a:cs typeface="Calibri"/>
              </a:rPr>
              <a:t> to the best of our review, no common pipeline combines investigation, evidence-based confidence, sandboxed repair, validation and audit on a CPU-only local LLM.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Hardware: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Dell Latitude 3410, 16 GB RAM, CPU-only – no GPU.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LLM: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qwen3:4b served locally by Ollama; data never leaves the machine.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Stack: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Python 3.11, LangGraph, FastAPI, Streamlit, SQLite (SQLModel), pandas / NumPy / SciPy, pytest, tenacity.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Benchmark data: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Titanic, Adult Income, German Credit (OpenML), with corruptions injected and ground truth tracked.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Design principle: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the LLM proposes, deterministic tools verify, a sandbox protects, and humans decide the rest.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514350" indent="-514350">
              <a:lnSpc>
                <a:spcPct val="105000"/>
              </a:lnSpc>
              <a:spcBef>
                <a:spcPts val="9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Deterministic Tool Layer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– detect, repair, validate</a:t>
            </a:r>
          </a:p>
          <a:p>
            <a:pPr marL="514350" indent="-514350">
              <a:lnSpc>
                <a:spcPct val="105000"/>
              </a:lnSpc>
              <a:spcBef>
                <a:spcPts val="9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Agent Orchestration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– planner, investigation, diagnosis, repair, validation (LangGraph)</a:t>
            </a:r>
          </a:p>
          <a:p>
            <a:pPr marL="514350" indent="-514350">
              <a:lnSpc>
                <a:spcPct val="105000"/>
              </a:lnSpc>
              <a:spcBef>
                <a:spcPts val="9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Evidence-Gating &amp; Confidence Scoring</a:t>
            </a:r>
          </a:p>
          <a:p>
            <a:pPr marL="514350" indent="-514350">
              <a:lnSpc>
                <a:spcPct val="105000"/>
              </a:lnSpc>
              <a:spcBef>
                <a:spcPts val="9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Sandbox, Audit Trail &amp; Safety Controls</a:t>
            </a:r>
          </a:p>
          <a:p>
            <a:pPr marL="514350" indent="-514350">
              <a:lnSpc>
                <a:spcPct val="105000"/>
              </a:lnSpc>
              <a:spcBef>
                <a:spcPts val="9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API, Live Dashboard &amp; Local LLM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(FastAPI, WebSocket, Streamlit, Ollama)</a:t>
            </a:r>
          </a:p>
          <a:p>
            <a:pPr marL="514350" indent="-514350">
              <a:lnSpc>
                <a:spcPct val="105000"/>
              </a:lnSpc>
              <a:spcBef>
                <a:spcPts val="900"/>
              </a:spcBef>
              <a:buClr>
                <a:srgbClr val="5583D1"/>
              </a:buClr>
              <a:buFont typeface="+mj-lt"/>
              <a:buAutoNum type="arabicPeriod"/>
            </a:pPr>
            <a:r>
              <a:rPr lang="en-US" sz="2400" b="1" i="0" dirty="0">
                <a:solidFill>
                  <a:srgbClr val="1C4D98"/>
                </a:solidFill>
                <a:latin typeface="Calibri"/>
                <a:cs typeface="Calibri"/>
              </a:rPr>
              <a:t>Evaluation Framework</a:t>
            </a:r>
            <a:r>
              <a:rPr lang="en-US" sz="2400" b="0" i="0" dirty="0">
                <a:solidFill>
                  <a:srgbClr val="242424"/>
                </a:solidFill>
                <a:latin typeface="Calibri"/>
                <a:cs typeface="Calibri"/>
              </a:rPr>
              <a:t> – corruption benchmark, baselines,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25880"/>
            <a:ext cx="11155680" cy="420624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i="0" dirty="0">
                <a:solidFill>
                  <a:srgbClr val="5583D1"/>
                </a:solidFill>
                <a:latin typeface="Calibri"/>
                <a:cs typeface="Calibri"/>
              </a:rPr>
              <a:t>Additional Information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Hardware: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Dell Latitude 3410, 16 GB RAM, CPU-only – no GPU.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LLM: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qwen3:4b served locally by Ollama; data never leaves the machine.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Stack: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Python 3.11, LangGraph, FastAPI, Streamlit, SQLite (SQLModel), pandas / NumPy / SciPy, pytest, tenacity.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Benchmark data: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Titanic, Adult Income, German Credit (OpenML), with corruptions injected and ground truth tracked.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Design principle: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the LLM proposes, deterministic tools verify, a sandbox protects, and humans decide the rest.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800" b="1" i="0" dirty="0">
                <a:solidFill>
                  <a:srgbClr val="5583D1"/>
                </a:solidFill>
                <a:latin typeface="Calibri"/>
                <a:cs typeface="Calibri"/>
              </a:rPr>
              <a:t>Modules to Cover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1. Deterministic Tool Layer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– detect, repair, validate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2. Agent Orchestration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– planner, investigation, diagnosis, repair, validation (LangGraph)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3. Evidence-Gating &amp; Confidence Scoring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/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4. Sandbox, Audit Trail &amp; Safety Controls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/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5. API, Live Dashboard &amp; Local LLM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(FastAPI, WebSocket, Streamlit, Ollama)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700" b="1" i="0" dirty="0">
                <a:solidFill>
                  <a:srgbClr val="1C4D98"/>
                </a:solidFill>
                <a:latin typeface="Calibri"/>
                <a:cs typeface="Calibri"/>
              </a:rPr>
              <a:t>6. Evaluation Framework </a:t>
            </a:r>
            <a:r>
              <a:rPr lang="en-US" sz="1700" b="0" i="0" dirty="0">
                <a:solidFill>
                  <a:srgbClr val="242424"/>
                </a:solidFill>
                <a:latin typeface="Calibri"/>
                <a:cs typeface="Calibri"/>
              </a:rPr>
              <a:t>– corruption benchmark, baselines,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 &amp; 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Dataset Forensics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25880"/>
            <a:ext cx="11155680" cy="420624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700" b="1" i="0" dirty="0">
                <a:solidFill>
                  <a:srgbClr val="5583D1"/>
                </a:solidFill>
                <a:latin typeface="Calibri"/>
                <a:cs typeface="Calibr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Electronics datasheets mix specification tables, pinout diagrams, and schematic figures — information that plain-text search cannot connect back to its visual source.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DiagramRAG is a layout-aware, multimodal Retrieval-Augmented Generation system that answers component and troubleshooting questions and cites the exact page region each answer came from.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Every answer is grounded in a retrieved datasheet region (text + crop image), reducing hallucination compared to a general-purpose LLM used without retrieval.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700" b="1" i="0" dirty="0">
                <a:solidFill>
                  <a:srgbClr val="5583D1"/>
                </a:solidFill>
                <a:latin typeface="Calibri"/>
                <a:cs typeface="Calibri"/>
              </a:rPr>
              <a:t>Objective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Build an end-to-end pipeline that ingests electronics datasheets (PDF), detects layout regions and circuit symbols, and indexes them for retrieval.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Design a hybrid (dense + sparse) retrieval system enhanced with LLM-based query understanding, instead of hand-coded synonym rules.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Generate answers that cite the exact retrieved region and explicitly decline to answer when evidence is insufficient.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Train and integrate a circuit-symbol object detector (YOLOv8) to add visual grounding beyond OCR text.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Deploy the system as an API and an interactive web UI for live demonstration.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&amp; 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</a:t>
            </a:r>
          </a:p>
        </p:txBody>
      </p:sp>
      <p:sp>
        <p:nvSpPr>
          <p:cNvPr id="6" name="Card 20"/>
          <p:cNvSpPr/>
          <p:nvPr/>
        </p:nvSpPr>
        <p:spPr>
          <a:xfrm>
            <a:off x="320040" y="1371600"/>
            <a:ext cx="5440680" cy="4114800"/>
          </a:xfrm>
          <a:prstGeom prst="roundRect">
            <a:avLst>
              <a:gd name="adj" fmla="val 4000"/>
            </a:avLst>
          </a:prstGeom>
          <a:solidFill>
            <a:srgbClr val="E3F4EA"/>
          </a:solidFill>
          <a:ln>
            <a:noFill/>
          </a:ln>
        </p:spPr>
        <p:txBody>
          <a:bodyPr wrap="square" lIns="164592" tIns="109728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b="1" i="0" dirty="0">
                <a:solidFill>
                  <a:srgbClr val="1E6B3A"/>
                </a:solidFill>
                <a:latin typeface="Calibri"/>
                <a:cs typeface="Calibri"/>
              </a:rPr>
              <a:t>In scope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Datasheet-grounded question answering — specifications, pinouts, package information, and application guidance explicitly present in the indexed documents.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A trained object detector for standard circuit symbols (resistor, capacitor, IC, transistor, op-amp, diode, and more).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A corpus of real manufacturer datasheets and application notes, expandable without retraining the retrieval system.</a:t>
            </a:r>
          </a:p>
        </p:txBody>
      </p:sp>
      <p:sp>
        <p:nvSpPr>
          <p:cNvPr id="7" name="Card 21"/>
          <p:cNvSpPr/>
          <p:nvPr/>
        </p:nvSpPr>
        <p:spPr>
          <a:xfrm>
            <a:off x="5989320" y="1371600"/>
            <a:ext cx="5440680" cy="4114800"/>
          </a:xfrm>
          <a:prstGeom prst="roundRect">
            <a:avLst>
              <a:gd name="adj" fmla="val 4000"/>
            </a:avLst>
          </a:prstGeom>
          <a:solidFill>
            <a:srgbClr val="FFF3D6"/>
          </a:solidFill>
          <a:ln>
            <a:noFill/>
          </a:ln>
        </p:spPr>
        <p:txBody>
          <a:bodyPr wrap="square" lIns="164592" tIns="109728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900" b="1" i="0" dirty="0">
                <a:solidFill>
                  <a:srgbClr val="8A5A00"/>
                </a:solidFill>
                <a:latin typeface="Calibri"/>
                <a:cs typeface="Calibri"/>
              </a:rPr>
              <a:t>Out of scope (this phase)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Fully autonomous hardware fault diagnosis from a described symptom, without a supporting troubleshooting knowledge base.</a:t>
            </a:r>
          </a:p>
          <a:p>
            <a:pPr marL="228600" indent="-228600" algn="l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Live sensor, multimeter, or oscilloscope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25880"/>
            <a:ext cx="11155680" cy="420624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700" b="1" i="0" dirty="0">
                <a:solidFill>
                  <a:srgbClr val="5583D1"/>
                </a:solidFill>
                <a:latin typeface="Calibri"/>
                <a:cs typeface="Calibri"/>
              </a:rPr>
              <a:t>Literature Review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Lewis et al.,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“Retrieval-Augmented Generation for Knowledge-Intensive NLP Tasks,” NeurIPS 2020 — the foundational RAG architecture combining a retriever with a generator.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Thoma et al., CGHD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— a public ground-truth dataset of handwritten circuit diagrams, used here to train a circuit-symbol detector.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1" i="0" dirty="0">
                <a:solidFill>
                  <a:srgbClr val="1C4D98"/>
                </a:solidFill>
                <a:latin typeface="Calibri"/>
                <a:cs typeface="Calibri"/>
              </a:rPr>
              <a:t>Jocher et al., Ultralytics YOLOv8 </a:t>
            </a: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— the real-time object-detection architecture used for symbol localization.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Existing manufacturer datasheet portals rely on keyword search only, with no cross-document semantic retrieval and no citation grounding back to a specific figure or table.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700" b="1" i="0" dirty="0">
                <a:solidFill>
                  <a:srgbClr val="5583D1"/>
                </a:solidFill>
                <a:latin typeface="Calibri"/>
                <a:cs typeface="Calibri"/>
              </a:rPr>
              <a:t>Summary of Literature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Most RAG systems are built for plain-text corpora and do not preserve document layout or point back to a specific diagram region.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Public circuit-symbol datasets (e.g., CGHD) are built from hand-drawn diagrams, so some domain shift is expected when a detector trained on them is applied to printed datasheets.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Hybrid retrieval (dense + sparse) consistently outperforms either method alone on technical, jargon-heavy text — confirmed during this project’s own retrieval debugging.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b="0" i="0" dirty="0">
                <a:solidFill>
                  <a:srgbClr val="242424"/>
                </a:solidFill>
                <a:latin typeface="Calibri"/>
                <a:cs typeface="Calibri"/>
              </a:rPr>
              <a:t>These gaps motivate a system that keeps text, image, and page location together as one retrievable, citable unit.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 &amp; 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25880"/>
            <a:ext cx="11155680" cy="420624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Ingestion: 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Poppler (PDF → page images), OpenCV (layout region detection), Tesseract OCR.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Object detection: 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YOLOv8 (Ultralytics), trained on CGHD with GPU training on Kaggle.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Embeddings: 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spaCy word vectors (text) + OpenCV color/edge features (image) — run fully offline due to network restrictions on hosted embedding models.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Retrieval: 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FAISS vector index + BM25 keyword index, combined with reciprocal rank fusion.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Generation: 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Google Gemini API, with an enforced citation format and a citation validator.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b="1" i="0" dirty="0">
                <a:solidFill>
                  <a:srgbClr val="1C4D98"/>
                </a:solidFill>
                <a:latin typeface="Calibri"/>
                <a:cs typeface="Calibri"/>
              </a:rPr>
              <a:t>Serving: </a:t>
            </a:r>
            <a:r>
              <a:rPr lang="en-US" sz="2000" b="0" i="0" dirty="0">
                <a:solidFill>
                  <a:srgbClr val="242424"/>
                </a:solidFill>
                <a:latin typeface="Calibri"/>
                <a:cs typeface="Calibri"/>
              </a:rPr>
              <a:t>FastAPI backend, Streamlit front end, Docker containerization.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25880"/>
            <a:ext cx="11155680" cy="420624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1" i="0" dirty="0">
                <a:solidFill>
                  <a:srgbClr val="1C4D98"/>
                </a:solidFill>
                <a:latin typeface="Calibri"/>
                <a:cs typeface="Calibri"/>
              </a:rPr>
              <a:t>Module 1 — Document Ingestion &amp; Layout Detection</a:t>
            </a: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/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1" i="0" dirty="0">
                <a:solidFill>
                  <a:srgbClr val="1C4D98"/>
                </a:solidFill>
                <a:latin typeface="Calibri"/>
                <a:cs typeface="Calibri"/>
              </a:rPr>
              <a:t>Module 2 — Circuit Symbol Detection (YOLOv8)</a:t>
            </a: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/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1" i="0" dirty="0">
                <a:solidFill>
                  <a:srgbClr val="1C4D98"/>
                </a:solidFill>
                <a:latin typeface="Calibri"/>
                <a:cs typeface="Calibri"/>
              </a:rPr>
              <a:t>Module 3 — Hybrid Retrieval &amp; Query Understanding</a:t>
            </a: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/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1" i="0" dirty="0">
                <a:solidFill>
                  <a:srgbClr val="1C4D98"/>
                </a:solidFill>
                <a:latin typeface="Calibri"/>
                <a:cs typeface="Calibri"/>
              </a:rPr>
              <a:t>Module 4 — Grounded Answer Generation &amp; Citation Validation</a:t>
            </a: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/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1" i="0" dirty="0">
                <a:solidFill>
                  <a:srgbClr val="1C4D98"/>
                </a:solidFill>
                <a:latin typeface="Calibri"/>
                <a:cs typeface="Calibri"/>
              </a:rPr>
              <a:t>Module 5 — API, UI and Deployment</a:t>
            </a: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/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900" b="1" i="0" dirty="0">
                <a:solidFill>
                  <a:srgbClr val="5583D1"/>
                </a:solidFill>
                <a:latin typeface="Calibri"/>
                <a:cs typeface="Calibri"/>
              </a:rPr>
              <a:t>Module Name: Document Ingestion &amp; Layout Detection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Converts each datasheet PDF into page images and detects layout regions using contour-based image processing.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Extracts text per region using Tesseract OCR.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0" i="0" dirty="0">
                <a:solidFill>
                  <a:srgbClr val="242424"/>
                </a:solidFill>
                <a:latin typeface="Calibri"/>
                <a:cs typeface="Calibri"/>
              </a:rPr>
              <a:t>Produces a structured record per region — document ID, page number, bounding box, and OCR text — the base unit used by every later stage of the pipeline.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816</Words>
  <Application>Microsoft Office PowerPoint</Application>
  <PresentationFormat>Widescreen</PresentationFormat>
  <Paragraphs>91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Lakshmi Sandeep Nidubrolu</cp:lastModifiedBy>
  <cp:revision>12</cp:revision>
  <dcterms:created xsi:type="dcterms:W3CDTF">2024-05-13T10:33:11Z</dcterms:created>
  <dcterms:modified xsi:type="dcterms:W3CDTF">2026-10-05T08:37:02Z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