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4" r:id="rId4"/>
    <p:sldId id="2147470493" r:id="rId5"/>
    <p:sldId id="2147470501" r:id="rId6"/>
    <p:sldId id="2147470487" r:id="rId7"/>
    <p:sldId id="2147470498" r:id="rId8"/>
    <p:sldId id="2147470497" r:id="rId9"/>
    <p:sldId id="2147470504" r:id="rId10"/>
    <p:sldId id="2147470499" r:id="rId11"/>
    <p:sldId id="2147470502" r:id="rId12"/>
    <p:sldId id="214747050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 err="1">
                <a:solidFill>
                  <a:schemeClr val="bg1"/>
                </a:solidFill>
              </a:rPr>
              <a:t>M.Tech</a:t>
            </a:r>
            <a:r>
              <a:rPr lang="en-US" sz="4400" dirty="0">
                <a:solidFill>
                  <a:schemeClr val="bg1"/>
                </a:solidFill>
              </a:rPr>
              <a:t>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r>
              <a:rPr lang="en-US" sz="2800" b="1" dirty="0">
                <a:solidFill>
                  <a:prstClr val="white"/>
                </a:solidFill>
                <a:cs typeface="Calibri" panose="020F0502020204030204" pitchFamily="34" charset="0"/>
              </a:rPr>
              <a:t>Autonomous Dataset Forensics Agent for Evidence-Gated Data Quality Investigation, Safe Repair, and Validation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N. Lakshmi Sandeep-T9920</a:t>
            </a:r>
          </a:p>
          <a:p>
            <a:pPr lvl="0" algn="ctr">
              <a:defRPr/>
            </a:pPr>
            <a:endParaRPr lang="en-US" sz="18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b="0" dirty="0">
                <a:solidFill>
                  <a:srgbClr val="242424"/>
                </a:solidFill>
                <a:latin typeface="Calibri"/>
                <a:cs typeface="Calibri"/>
              </a:rPr>
              <a:t>Real-world datasets arrive messy: </a:t>
            </a:r>
            <a:r>
              <a:rPr lang="en-US" sz="2200" dirty="0">
                <a:solidFill>
                  <a:srgbClr val="1C4D98"/>
                </a:solidFill>
                <a:latin typeface="Calibri"/>
                <a:cs typeface="Calibri"/>
              </a:rPr>
              <a:t>missing values, duplicates, outliers, inconsistent labels, mixed date formats</a:t>
            </a:r>
            <a:r>
              <a:rPr lang="en-US" sz="2200" b="0" dirty="0">
                <a:solidFill>
                  <a:srgbClr val="242424"/>
                </a:solidFill>
                <a:latin typeface="Calibri"/>
                <a:cs typeface="Calibri"/>
              </a:rPr>
              <a:t> and copy-paste format noise.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b="0" dirty="0">
                <a:solidFill>
                  <a:srgbClr val="242424"/>
                </a:solidFill>
                <a:latin typeface="Calibri"/>
                <a:cs typeface="Calibri"/>
              </a:rPr>
              <a:t>Manual cleaning is slow. Fully automatic cleaning is risky – a wrong “fix” silently corrupts the data.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b="0" dirty="0">
                <a:solidFill>
                  <a:srgbClr val="242424"/>
                </a:solidFill>
                <a:latin typeface="Calibri"/>
                <a:cs typeface="Calibri"/>
              </a:rPr>
              <a:t>Many LLM-based cleaners act on a guess: no measured confidence, no audit trail, no way to undo.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b="0" dirty="0">
                <a:solidFill>
                  <a:srgbClr val="242424"/>
                </a:solidFill>
                <a:latin typeface="Calibri"/>
                <a:cs typeface="Calibri"/>
              </a:rPr>
              <a:t>This project builds an agent that works like a </a:t>
            </a:r>
            <a:r>
              <a:rPr lang="en-US" sz="2200" dirty="0">
                <a:solidFill>
                  <a:srgbClr val="1C4D98"/>
                </a:solidFill>
                <a:latin typeface="Calibri"/>
                <a:cs typeface="Calibri"/>
              </a:rPr>
              <a:t>forensic analyst</a:t>
            </a:r>
            <a:r>
              <a:rPr lang="en-US" sz="2200" b="0" dirty="0">
                <a:solidFill>
                  <a:srgbClr val="242424"/>
                </a:solidFill>
                <a:latin typeface="Calibri"/>
                <a:cs typeface="Calibri"/>
              </a:rPr>
              <a:t>: it investigates, gathers evidence, and repairs only when confidence is high enough.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b="0" dirty="0">
                <a:solidFill>
                  <a:srgbClr val="242424"/>
                </a:solidFill>
                <a:latin typeface="Calibri"/>
                <a:cs typeface="Calibri"/>
              </a:rPr>
              <a:t>Otherwise it </a:t>
            </a:r>
            <a:r>
              <a:rPr lang="en-US" sz="2200" dirty="0">
                <a:solidFill>
                  <a:srgbClr val="1C4D98"/>
                </a:solidFill>
                <a:latin typeface="Calibri"/>
                <a:cs typeface="Calibri"/>
              </a:rPr>
              <a:t>abstains</a:t>
            </a:r>
            <a:r>
              <a:rPr lang="en-US" sz="2200" b="0" dirty="0">
                <a:solidFill>
                  <a:srgbClr val="242424"/>
                </a:solidFill>
                <a:latin typeface="Calibri"/>
                <a:cs typeface="Calibri"/>
              </a:rPr>
              <a:t> and sends the issue to a human reviewer – it never blindly guesses.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b="0" dirty="0">
                <a:solidFill>
                  <a:srgbClr val="242424"/>
                </a:solidFill>
                <a:latin typeface="Calibri"/>
                <a:cs typeface="Calibri"/>
              </a:rPr>
              <a:t>Runs fully </a:t>
            </a:r>
            <a:r>
              <a:rPr lang="en-US" sz="2200" dirty="0">
                <a:solidFill>
                  <a:srgbClr val="1C4D98"/>
                </a:solidFill>
                <a:latin typeface="Calibri"/>
                <a:cs typeface="Calibri"/>
              </a:rPr>
              <a:t>local</a:t>
            </a:r>
            <a:r>
              <a:rPr lang="en-US" sz="2200" b="0" dirty="0">
                <a:solidFill>
                  <a:srgbClr val="242424"/>
                </a:solidFill>
                <a:latin typeface="Calibri"/>
                <a:cs typeface="Calibri"/>
              </a:rPr>
              <a:t>: CPU-only laptop, local LLM (</a:t>
            </a:r>
            <a:r>
              <a:rPr lang="en-US" sz="2200" b="0" dirty="0" err="1">
                <a:solidFill>
                  <a:srgbClr val="242424"/>
                </a:solidFill>
                <a:latin typeface="Calibri"/>
                <a:cs typeface="Calibri"/>
              </a:rPr>
              <a:t>Ollama</a:t>
            </a:r>
            <a:r>
              <a:rPr lang="en-US" sz="2200" b="0" dirty="0">
                <a:solidFill>
                  <a:srgbClr val="242424"/>
                </a:solidFill>
                <a:latin typeface="Calibri"/>
                <a:cs typeface="Calibri"/>
              </a:rPr>
              <a:t>, qwen3:4b), no cloud API keys.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Dataset Forensics Agent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450"/>
              </a:spcBef>
            </a:pPr>
            <a:r>
              <a:rPr lang="en-US" sz="2000" b="0" i="0" dirty="0">
                <a:solidFill>
                  <a:srgbClr val="242424"/>
                </a:solidFill>
                <a:latin typeface="Calibri"/>
                <a:cs typeface="Calibri"/>
              </a:rPr>
              <a:t>Given a messy tabular dataset, </a:t>
            </a:r>
            <a:r>
              <a:rPr lang="en-US" sz="2000" b="1" i="0" dirty="0">
                <a:solidFill>
                  <a:srgbClr val="1C4D98"/>
                </a:solidFill>
                <a:latin typeface="Calibri"/>
                <a:cs typeface="Calibri"/>
              </a:rPr>
              <a:t>automatically find quality issues, repair only those that can be repaired safely, and leave the rest for human review</a:t>
            </a:r>
            <a:r>
              <a:rPr lang="en-US" sz="2000" b="0" i="0" dirty="0">
                <a:solidFill>
                  <a:srgbClr val="242424"/>
                </a:solidFill>
                <a:latin typeface="Calibri"/>
                <a:cs typeface="Calibri"/>
              </a:rPr>
              <a:t> – never applying an unsupported guess.</a:t>
            </a:r>
          </a:p>
          <a:p>
            <a:pPr marL="0" indent="0">
              <a:lnSpc>
                <a:spcPct val="100000"/>
              </a:lnSpc>
              <a:spcBef>
                <a:spcPts val="750"/>
              </a:spcBef>
              <a:buNone/>
            </a:pPr>
            <a:r>
              <a:rPr lang="en-US" sz="2200" b="1" i="0" dirty="0">
                <a:solidFill>
                  <a:srgbClr val="5583D1"/>
                </a:solidFill>
                <a:latin typeface="Calibri"/>
                <a:cs typeface="Calibri"/>
              </a:rPr>
              <a:t>Why existing approaches fall short</a:t>
            </a:r>
          </a:p>
          <a:p>
            <a:pPr>
              <a:lnSpc>
                <a:spcPct val="100000"/>
              </a:lnSpc>
              <a:spcBef>
                <a:spcPts val="450"/>
              </a:spcBef>
            </a:pPr>
            <a:r>
              <a:rPr lang="en-US" sz="2000" b="0" i="0" dirty="0">
                <a:solidFill>
                  <a:srgbClr val="242424"/>
                </a:solidFill>
                <a:latin typeface="Calibri"/>
                <a:cs typeface="Calibri"/>
              </a:rPr>
              <a:t>Rule-based cleaners act on every flag (blind mean substitution, lowercasing, de-duplication).</a:t>
            </a:r>
          </a:p>
          <a:p>
            <a:pPr>
              <a:lnSpc>
                <a:spcPct val="100000"/>
              </a:lnSpc>
              <a:spcBef>
                <a:spcPts val="450"/>
              </a:spcBef>
            </a:pPr>
            <a:r>
              <a:rPr lang="en-US" sz="2000" b="0" i="0" dirty="0">
                <a:solidFill>
                  <a:srgbClr val="242424"/>
                </a:solidFill>
                <a:latin typeface="Calibri"/>
                <a:cs typeface="Calibri"/>
              </a:rPr>
              <a:t>LLM workflows without gating act on guesses; when baselines act they are right only about half the time.</a:t>
            </a:r>
          </a:p>
          <a:p>
            <a:pPr marL="0" indent="0">
              <a:lnSpc>
                <a:spcPct val="100000"/>
              </a:lnSpc>
              <a:spcBef>
                <a:spcPts val="750"/>
              </a:spcBef>
              <a:buNone/>
            </a:pPr>
            <a:r>
              <a:rPr lang="en-US" sz="2200" b="1" i="0" dirty="0">
                <a:solidFill>
                  <a:srgbClr val="5583D1"/>
                </a:solidFill>
                <a:latin typeface="Calibri"/>
                <a:cs typeface="Calibri"/>
              </a:rPr>
              <a:t>Research question</a:t>
            </a:r>
          </a:p>
          <a:p>
            <a:pPr>
              <a:lnSpc>
                <a:spcPct val="100000"/>
              </a:lnSpc>
              <a:spcBef>
                <a:spcPts val="450"/>
              </a:spcBef>
            </a:pPr>
            <a:r>
              <a:rPr lang="en-US" sz="2000" b="0" i="0" dirty="0">
                <a:solidFill>
                  <a:srgbClr val="242424"/>
                </a:solidFill>
                <a:latin typeface="Calibri"/>
                <a:cs typeface="Calibri"/>
              </a:rPr>
              <a:t>Can evidence-gating drive false repairs to zero while keeping useful autonomy – on a CPU-only machine with a local model?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Dataset Forensics Agent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514350" indent="-514350">
              <a:lnSpc>
                <a:spcPct val="110000"/>
              </a:lnSpc>
              <a:spcBef>
                <a:spcPts val="6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0" dirty="0">
                <a:solidFill>
                  <a:srgbClr val="242424"/>
                </a:solidFill>
                <a:latin typeface="Calibri"/>
                <a:cs typeface="Calibri"/>
              </a:rPr>
              <a:t>Detect data-quality issues with deterministic, reproducible tools.</a:t>
            </a:r>
          </a:p>
          <a:p>
            <a:pPr marL="514350" indent="-514350">
              <a:lnSpc>
                <a:spcPct val="110000"/>
              </a:lnSpc>
              <a:spcBef>
                <a:spcPts val="6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0" dirty="0">
                <a:solidFill>
                  <a:srgbClr val="242424"/>
                </a:solidFill>
                <a:latin typeface="Calibri"/>
                <a:cs typeface="Calibri"/>
              </a:rPr>
              <a:t>Use the LLM only to form hypotheses; gather evidence with deterministic checks.</a:t>
            </a:r>
          </a:p>
          <a:p>
            <a:pPr marL="514350" indent="-514350">
              <a:lnSpc>
                <a:spcPct val="110000"/>
              </a:lnSpc>
              <a:spcBef>
                <a:spcPts val="6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0" dirty="0">
                <a:solidFill>
                  <a:srgbClr val="242424"/>
                </a:solidFill>
                <a:latin typeface="Calibri"/>
                <a:cs typeface="Calibri"/>
              </a:rPr>
              <a:t>Gate every repair on a confidence score (threshold 0.80) and abstain otherwise.</a:t>
            </a:r>
          </a:p>
          <a:p>
            <a:pPr marL="514350" indent="-514350">
              <a:lnSpc>
                <a:spcPct val="110000"/>
              </a:lnSpc>
              <a:spcBef>
                <a:spcPts val="6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0" dirty="0">
                <a:solidFill>
                  <a:srgbClr val="242424"/>
                </a:solidFill>
                <a:latin typeface="Calibri"/>
                <a:cs typeface="Calibri"/>
              </a:rPr>
              <a:t>Apply repairs only to a sandbox copy and validate before accepting.</a:t>
            </a:r>
          </a:p>
          <a:p>
            <a:pPr marL="514350" indent="-514350">
              <a:lnSpc>
                <a:spcPct val="110000"/>
              </a:lnSpc>
              <a:spcBef>
                <a:spcPts val="6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0" dirty="0">
                <a:solidFill>
                  <a:srgbClr val="242424"/>
                </a:solidFill>
                <a:latin typeface="Calibri"/>
                <a:cs typeface="Calibri"/>
              </a:rPr>
              <a:t>Keep a full audit trail so every decision is traceable.</a:t>
            </a:r>
          </a:p>
          <a:p>
            <a:pPr marL="514350" indent="-514350">
              <a:lnSpc>
                <a:spcPct val="110000"/>
              </a:lnSpc>
              <a:spcBef>
                <a:spcPts val="6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0" dirty="0">
                <a:solidFill>
                  <a:srgbClr val="242424"/>
                </a:solidFill>
                <a:latin typeface="Calibri"/>
                <a:cs typeface="Calibri"/>
              </a:rPr>
              <a:t>Evaluate against rule-based and un-gated LLM baselines on corrupted real datasets.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Dataset Forensics Agent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2514600"/>
            <a:ext cx="10625328" cy="2834640"/>
          </a:xfrm>
        </p:spPr>
        <p:txBody>
          <a:bodyPr/>
          <a:lstStyle/>
          <a:p>
            <a:pPr>
              <a:lnSpc>
                <a:spcPct val="105000"/>
              </a:lnSpc>
              <a:spcBef>
                <a:spcPts val="500"/>
              </a:spcBef>
            </a:pPr>
            <a:r>
              <a:rPr lang="en-US" sz="2000" b="1" i="0" dirty="0">
                <a:solidFill>
                  <a:srgbClr val="1C4D98"/>
                </a:solidFill>
                <a:latin typeface="Calibri"/>
                <a:cs typeface="Calibri"/>
              </a:rPr>
              <a:t>Benchmark:</a:t>
            </a:r>
            <a:r>
              <a:rPr lang="en-US" sz="2000" b="0" i="0" dirty="0">
                <a:solidFill>
                  <a:srgbClr val="242424"/>
                </a:solidFill>
                <a:latin typeface="Calibri"/>
                <a:cs typeface="Calibri"/>
              </a:rPr>
              <a:t> corrupt clean datasets with known ground truth (five injectors); run the proposed system and two baselines.</a:t>
            </a:r>
          </a:p>
          <a:p>
            <a:pPr>
              <a:lnSpc>
                <a:spcPct val="105000"/>
              </a:lnSpc>
              <a:spcBef>
                <a:spcPts val="500"/>
              </a:spcBef>
            </a:pPr>
            <a:r>
              <a:rPr lang="en-US" sz="2000" b="1" i="0" dirty="0">
                <a:solidFill>
                  <a:srgbClr val="1C4D98"/>
                </a:solidFill>
                <a:latin typeface="Calibri"/>
                <a:cs typeface="Calibri"/>
              </a:rPr>
              <a:t>Scale:</a:t>
            </a:r>
            <a:r>
              <a:rPr lang="en-US" sz="2000" b="0" i="0" dirty="0">
                <a:solidFill>
                  <a:srgbClr val="242424"/>
                </a:solidFill>
                <a:latin typeface="Calibri"/>
                <a:cs typeface="Calibri"/>
              </a:rPr>
              <a:t> 3 datasets (Titanic, Adult Income, German Credit) × 10 seeds = 30 trials, with automatic column selection.</a:t>
            </a:r>
          </a:p>
          <a:p>
            <a:pPr>
              <a:lnSpc>
                <a:spcPct val="105000"/>
              </a:lnSpc>
              <a:spcBef>
                <a:spcPts val="500"/>
              </a:spcBef>
            </a:pPr>
            <a:r>
              <a:rPr lang="en-US" sz="2000" b="1" i="0" dirty="0">
                <a:solidFill>
                  <a:srgbClr val="1C4D98"/>
                </a:solidFill>
                <a:latin typeface="Calibri"/>
                <a:cs typeface="Calibri"/>
              </a:rPr>
              <a:t>Metrics:</a:t>
            </a:r>
            <a:r>
              <a:rPr lang="en-US" sz="2000" b="0" i="0" dirty="0">
                <a:solidFill>
                  <a:srgbClr val="242424"/>
                </a:solidFill>
                <a:latin typeface="Calibri"/>
                <a:cs typeface="Calibri"/>
              </a:rPr>
              <a:t> detection precision / recall / F1, safe-repair rate, false-repair rate, autonomy rate, diagnosis accuracy.</a:t>
            </a:r>
          </a:p>
          <a:p>
            <a:pPr>
              <a:lnSpc>
                <a:spcPct val="105000"/>
              </a:lnSpc>
              <a:spcBef>
                <a:spcPts val="500"/>
              </a:spcBef>
            </a:pPr>
            <a:r>
              <a:rPr lang="en-US" sz="2000" b="1" i="0" dirty="0">
                <a:solidFill>
                  <a:srgbClr val="1C4D98"/>
                </a:solidFill>
                <a:latin typeface="Calibri"/>
                <a:cs typeface="Calibri"/>
              </a:rPr>
              <a:t>Case study:</a:t>
            </a:r>
            <a:r>
              <a:rPr lang="en-US" sz="2000" b="0" i="0" dirty="0">
                <a:solidFill>
                  <a:srgbClr val="242424"/>
                </a:solidFill>
                <a:latin typeface="Calibri"/>
                <a:cs typeface="Calibri"/>
              </a:rPr>
              <a:t> a real messy table (20 × 11) tests generalisation beyond injected noise.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Dataset Forensics Agent</a:t>
            </a:r>
          </a:p>
          <a:p>
            <a:pPr algn="r"/>
            <a:endParaRPr lang="en-US" dirty="0"/>
          </a:p>
        </p:txBody>
      </p:sp>
      <p:sp>
        <p:nvSpPr>
          <p:cNvPr id="120" name="Step 1 Investigate"/>
          <p:cNvSpPr/>
          <p:nvPr/>
        </p:nvSpPr>
        <p:spPr>
          <a:xfrm>
            <a:off x="320040" y="1371600"/>
            <a:ext cx="1554480" cy="868680"/>
          </a:xfrm>
          <a:prstGeom prst="roundRect">
            <a:avLst>
              <a:gd name="adj" fmla="val 10000"/>
            </a:avLst>
          </a:prstGeom>
          <a:solidFill>
            <a:srgbClr val="1C4D98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1 Investigate</a:t>
            </a:r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b="0" i="0" dirty="0">
                <a:solidFill>
                  <a:srgbClr val="FFFFFF"/>
                </a:solidFill>
                <a:latin typeface="Calibri"/>
                <a:cs typeface="Calibri"/>
              </a:rPr>
              <a:t>deterministic tools</a:t>
            </a:r>
          </a:p>
        </p:txBody>
      </p:sp>
      <p:cxnSp>
        <p:nvCxnSpPr>
          <p:cNvPr id="130" name="Arrow 130"/>
          <p:cNvCxnSpPr/>
          <p:nvPr/>
        </p:nvCxnSpPr>
        <p:spPr>
          <a:xfrm>
            <a:off x="1892808" y="1805940"/>
            <a:ext cx="219456" cy="0"/>
          </a:xfrm>
          <a:prstGeom prst="line">
            <a:avLst/>
          </a:prstGeom>
          <a:ln w="22225">
            <a:solidFill>
              <a:srgbClr val="1C4D98"/>
            </a:solidFill>
            <a:tailEnd type="triangle" w="med" len="med"/>
          </a:ln>
        </p:spPr>
      </p:cxnSp>
      <p:sp>
        <p:nvSpPr>
          <p:cNvPr id="121" name="Step 2 Diagnose"/>
          <p:cNvSpPr/>
          <p:nvPr/>
        </p:nvSpPr>
        <p:spPr>
          <a:xfrm>
            <a:off x="2130552" y="1371600"/>
            <a:ext cx="1554480" cy="868680"/>
          </a:xfrm>
          <a:prstGeom prst="roundRect">
            <a:avLst>
              <a:gd name="adj" fmla="val 10000"/>
            </a:avLst>
          </a:prstGeom>
          <a:solidFill>
            <a:srgbClr val="1C4D98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2 Diagnose</a:t>
            </a:r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b="0" i="0" dirty="0">
                <a:solidFill>
                  <a:srgbClr val="FFFFFF"/>
                </a:solidFill>
                <a:latin typeface="Calibri"/>
                <a:cs typeface="Calibri"/>
              </a:rPr>
              <a:t>LLM hypothesis + evidence</a:t>
            </a:r>
          </a:p>
        </p:txBody>
      </p:sp>
      <p:cxnSp>
        <p:nvCxnSpPr>
          <p:cNvPr id="131" name="Arrow 131"/>
          <p:cNvCxnSpPr/>
          <p:nvPr/>
        </p:nvCxnSpPr>
        <p:spPr>
          <a:xfrm>
            <a:off x="3703320" y="1805940"/>
            <a:ext cx="219456" cy="0"/>
          </a:xfrm>
          <a:prstGeom prst="line">
            <a:avLst/>
          </a:prstGeom>
          <a:ln w="22225">
            <a:solidFill>
              <a:srgbClr val="1C4D98"/>
            </a:solidFill>
            <a:tailEnd type="triangle" w="med" len="med"/>
          </a:ln>
        </p:spPr>
      </p:cxnSp>
      <p:sp>
        <p:nvSpPr>
          <p:cNvPr id="122" name="Step 3 Gate"/>
          <p:cNvSpPr/>
          <p:nvPr/>
        </p:nvSpPr>
        <p:spPr>
          <a:xfrm>
            <a:off x="3941064" y="1371600"/>
            <a:ext cx="1554480" cy="868680"/>
          </a:xfrm>
          <a:prstGeom prst="roundRect">
            <a:avLst>
              <a:gd name="adj" fmla="val 10000"/>
            </a:avLst>
          </a:prstGeom>
          <a:solidFill>
            <a:srgbClr val="3793A6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3 Gate</a:t>
            </a:r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b="0" i="0" dirty="0">
                <a:solidFill>
                  <a:srgbClr val="FFFFFF"/>
                </a:solidFill>
                <a:latin typeface="Calibri"/>
                <a:cs typeface="Calibri"/>
              </a:rPr>
              <a:t>confidence ≥ 0.80</a:t>
            </a:r>
          </a:p>
        </p:txBody>
      </p:sp>
      <p:cxnSp>
        <p:nvCxnSpPr>
          <p:cNvPr id="132" name="Arrow 132"/>
          <p:cNvCxnSpPr/>
          <p:nvPr/>
        </p:nvCxnSpPr>
        <p:spPr>
          <a:xfrm>
            <a:off x="5513832" y="1805940"/>
            <a:ext cx="219456" cy="0"/>
          </a:xfrm>
          <a:prstGeom prst="line">
            <a:avLst/>
          </a:prstGeom>
          <a:ln w="22225">
            <a:solidFill>
              <a:srgbClr val="1C4D98"/>
            </a:solidFill>
            <a:tailEnd type="triangle" w="med" len="med"/>
          </a:ln>
        </p:spPr>
      </p:cxnSp>
      <p:sp>
        <p:nvSpPr>
          <p:cNvPr id="123" name="Step 4 Repair"/>
          <p:cNvSpPr/>
          <p:nvPr/>
        </p:nvSpPr>
        <p:spPr>
          <a:xfrm>
            <a:off x="5751576" y="1371600"/>
            <a:ext cx="1554480" cy="868680"/>
          </a:xfrm>
          <a:prstGeom prst="roundRect">
            <a:avLst>
              <a:gd name="adj" fmla="val 10000"/>
            </a:avLst>
          </a:prstGeom>
          <a:solidFill>
            <a:srgbClr val="1C4D98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4 Repair</a:t>
            </a:r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b="0" i="0" dirty="0">
                <a:solidFill>
                  <a:srgbClr val="FFFFFF"/>
                </a:solidFill>
                <a:latin typeface="Calibri"/>
                <a:cs typeface="Calibri"/>
              </a:rPr>
              <a:t>sandbox, snapshot first</a:t>
            </a:r>
          </a:p>
        </p:txBody>
      </p:sp>
      <p:cxnSp>
        <p:nvCxnSpPr>
          <p:cNvPr id="133" name="Arrow 133"/>
          <p:cNvCxnSpPr/>
          <p:nvPr/>
        </p:nvCxnSpPr>
        <p:spPr>
          <a:xfrm>
            <a:off x="7324344" y="1805940"/>
            <a:ext cx="219456" cy="0"/>
          </a:xfrm>
          <a:prstGeom prst="line">
            <a:avLst/>
          </a:prstGeom>
          <a:ln w="22225">
            <a:solidFill>
              <a:srgbClr val="1C4D98"/>
            </a:solidFill>
            <a:tailEnd type="triangle" w="med" len="med"/>
          </a:ln>
        </p:spPr>
      </p:cxnSp>
      <p:sp>
        <p:nvSpPr>
          <p:cNvPr id="124" name="Step 5 Validate"/>
          <p:cNvSpPr/>
          <p:nvPr/>
        </p:nvSpPr>
        <p:spPr>
          <a:xfrm>
            <a:off x="7562088" y="1371600"/>
            <a:ext cx="1554480" cy="868680"/>
          </a:xfrm>
          <a:prstGeom prst="roundRect">
            <a:avLst>
              <a:gd name="adj" fmla="val 10000"/>
            </a:avLst>
          </a:prstGeom>
          <a:solidFill>
            <a:srgbClr val="1C4D98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5 Validate</a:t>
            </a:r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b="0" i="0" dirty="0">
                <a:solidFill>
                  <a:srgbClr val="FFFFFF"/>
                </a:solidFill>
                <a:latin typeface="Calibri"/>
                <a:cs typeface="Calibri"/>
              </a:rPr>
              <a:t>recompute and compare</a:t>
            </a:r>
          </a:p>
        </p:txBody>
      </p:sp>
      <p:cxnSp>
        <p:nvCxnSpPr>
          <p:cNvPr id="134" name="Arrow 134"/>
          <p:cNvCxnSpPr/>
          <p:nvPr/>
        </p:nvCxnSpPr>
        <p:spPr>
          <a:xfrm>
            <a:off x="9134856" y="1805940"/>
            <a:ext cx="219456" cy="0"/>
          </a:xfrm>
          <a:prstGeom prst="line">
            <a:avLst/>
          </a:prstGeom>
          <a:ln w="22225">
            <a:solidFill>
              <a:srgbClr val="1C4D98"/>
            </a:solidFill>
            <a:tailEnd type="triangle" w="med" len="med"/>
          </a:ln>
        </p:spPr>
      </p:cxnSp>
      <p:sp>
        <p:nvSpPr>
          <p:cNvPr id="125" name="Step 6 Decide"/>
          <p:cNvSpPr/>
          <p:nvPr/>
        </p:nvSpPr>
        <p:spPr>
          <a:xfrm>
            <a:off x="9372600" y="1371600"/>
            <a:ext cx="1554480" cy="868680"/>
          </a:xfrm>
          <a:prstGeom prst="roundRect">
            <a:avLst>
              <a:gd name="adj" fmla="val 10000"/>
            </a:avLst>
          </a:prstGeom>
          <a:solidFill>
            <a:srgbClr val="1C4D98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6 Decide</a:t>
            </a:r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b="0" i="0" dirty="0">
                <a:solidFill>
                  <a:srgbClr val="FFFFFF"/>
                </a:solidFill>
                <a:latin typeface="Calibri"/>
                <a:cs typeface="Calibri"/>
              </a:rPr>
              <a:t>accept / undo / review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2400" b="1" i="0" dirty="0">
                <a:solidFill>
                  <a:srgbClr val="5583D1"/>
                </a:solidFill>
                <a:latin typeface="Calibri"/>
                <a:cs typeface="Calibri"/>
              </a:rPr>
              <a:t>How a repair is allowed, checked and undone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2400" b="1" i="0" dirty="0">
                <a:solidFill>
                  <a:srgbClr val="1C4D98"/>
                </a:solidFill>
                <a:latin typeface="Calibri"/>
                <a:cs typeface="Calibri"/>
              </a:rPr>
              <a:t>Gate:</a:t>
            </a: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 confidence = sum of supporting evidence weights; at least 0.80 is required.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2400" b="1" i="0" dirty="0">
                <a:solidFill>
                  <a:srgbClr val="1C4D98"/>
                </a:solidFill>
                <a:latin typeface="Calibri"/>
                <a:cs typeface="Calibri"/>
              </a:rPr>
              <a:t>Safe actions only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2400" b="1" i="0" dirty="0">
                <a:solidFill>
                  <a:srgbClr val="1C4D98"/>
                </a:solidFill>
                <a:latin typeface="Calibri"/>
                <a:cs typeface="Calibri"/>
              </a:rPr>
              <a:t>Sandbox:</a:t>
            </a: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 repairs touch a copy; a snapshot is taken before each repair.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2400" b="1" i="0" dirty="0">
                <a:solidFill>
                  <a:srgbClr val="1C4D98"/>
                </a:solidFill>
                <a:latin typeface="Calibri"/>
                <a:cs typeface="Calibri"/>
              </a:rPr>
              <a:t>Validation</a:t>
            </a: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 recomputes the expected result from the untouched original and compares it.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2400" b="1" i="0" dirty="0">
                <a:solidFill>
                  <a:srgbClr val="1C4D98"/>
                </a:solidFill>
                <a:latin typeface="Calibri"/>
                <a:cs typeface="Calibri"/>
              </a:rPr>
              <a:t>Rollback</a:t>
            </a: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 undoes only the failed repair; earlier accepted repairs are preserved.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2400" b="1" i="0" dirty="0">
                <a:solidFill>
                  <a:srgbClr val="1C4D98"/>
                </a:solidFill>
                <a:latin typeface="Calibri"/>
                <a:cs typeface="Calibri"/>
              </a:rPr>
              <a:t>Audit:</a:t>
            </a: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 run, issue, tool, observation and decision are logged for every step.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Module: Gated Repair &amp; Validation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Autonomous Dataset Forensics Agent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Dataset Forensics Agent</a:t>
            </a:r>
          </a:p>
          <a:p>
            <a:pPr algn="r"/>
            <a:endParaRPr lang="en-US" dirty="0"/>
          </a:p>
        </p:txBody>
      </p:sp>
      <p:graphicFrame>
        <p:nvGraphicFramePr>
          <p:cNvPr id="140" name="Approach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313303"/>
              </p:ext>
            </p:extLst>
          </p:nvPr>
        </p:nvGraphicFramePr>
        <p:xfrm>
          <a:off x="320039" y="1325879"/>
          <a:ext cx="11462229" cy="4979723"/>
        </p:xfrm>
        <a:graphic>
          <a:graphicData uri="http://schemas.openxmlformats.org/drawingml/2006/table">
            <a:tbl>
              <a:tblPr firstRow="1" bandRow="1"/>
              <a:tblGrid>
                <a:gridCol w="256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5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7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04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Choice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Reason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1C4D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4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Outlier detection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z-score, threshold 2.5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A threshold of 3.0 is masked on small samples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4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Confidence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Weighted sum of supporting evidence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Transparent; weights tunable by ablation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20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Data dictionary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Token-based column-name matching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Fixes “count” wrongly matching “native-country”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4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Format noise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Regex strip + parse, with verification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Provably lossless; no LLM needed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04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LLM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qwen3:4b, thinking off, 512-token cap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Short JSON hypotheses; CPU-friendly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04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Orchestration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LangGraph with streamed events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Live per-node dashboard updates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4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Serving and storage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FastAPI, WebSocket, Streamlit, SQLite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Real-time UI; audit trail persists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Dataset Forensics Agent</a:t>
            </a:r>
          </a:p>
          <a:p>
            <a:pPr algn="r"/>
            <a:endParaRPr lang="en-US" dirty="0"/>
          </a:p>
        </p:txBody>
      </p:sp>
      <p:sp>
        <p:nvSpPr>
          <p:cNvPr id="150" name="Stat 150"/>
          <p:cNvSpPr/>
          <p:nvPr/>
        </p:nvSpPr>
        <p:spPr>
          <a:xfrm>
            <a:off x="320040" y="1371600"/>
            <a:ext cx="2560320" cy="14630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i="0" dirty="0">
                <a:solidFill>
                  <a:srgbClr val="1C4D98"/>
                </a:solidFill>
                <a:latin typeface="Calibri"/>
                <a:cs typeface="Calibri"/>
              </a:rPr>
              <a:t>1.0</a:t>
            </a:r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500" b="0" i="0" dirty="0">
                <a:solidFill>
                  <a:srgbClr val="242424"/>
                </a:solidFill>
                <a:latin typeface="Calibri"/>
                <a:cs typeface="Calibri"/>
              </a:rPr>
              <a:t>Detection recall
30 of 30 trials</a:t>
            </a:r>
          </a:p>
        </p:txBody>
      </p:sp>
      <p:sp>
        <p:nvSpPr>
          <p:cNvPr id="152" name="Stat 152"/>
          <p:cNvSpPr/>
          <p:nvPr/>
        </p:nvSpPr>
        <p:spPr>
          <a:xfrm>
            <a:off x="320040" y="2971800"/>
            <a:ext cx="2560320" cy="1463040"/>
          </a:xfrm>
          <a:prstGeom prst="roundRect">
            <a:avLst>
              <a:gd name="adj" fmla="val 6000"/>
            </a:avLst>
          </a:prstGeom>
          <a:solidFill>
            <a:srgbClr val="FFF3D6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i="0">
                <a:solidFill>
                  <a:srgbClr val="8A5A00"/>
                </a:solidFill>
                <a:latin typeface="Calibri"/>
                <a:cs typeface="Calibri"/>
              </a:rPr>
              <a:t>≈</a:t>
            </a:r>
            <a:r>
              <a:rPr lang="en-US" sz="4000" b="1" dirty="0">
                <a:solidFill>
                  <a:srgbClr val="8A5A00"/>
                </a:solidFill>
                <a:latin typeface="Calibri"/>
                <a:cs typeface="Calibri"/>
              </a:rPr>
              <a:t>7</a:t>
            </a:r>
            <a:r>
              <a:rPr lang="en-US" sz="4000" b="1">
                <a:solidFill>
                  <a:srgbClr val="8A5A00"/>
                </a:solidFill>
                <a:latin typeface="Calibri"/>
                <a:cs typeface="Calibri"/>
              </a:rPr>
              <a:t>5</a:t>
            </a:r>
            <a:r>
              <a:rPr lang="en-US" sz="4000" b="1" i="0" dirty="0">
                <a:solidFill>
                  <a:srgbClr val="8A5A00"/>
                </a:solidFill>
                <a:latin typeface="Calibri"/>
                <a:cs typeface="Calibri"/>
              </a:rPr>
              <a:t>%</a:t>
            </a:r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500" b="0" i="0" dirty="0">
                <a:solidFill>
                  <a:srgbClr val="242424"/>
                </a:solidFill>
                <a:latin typeface="Calibri"/>
                <a:cs typeface="Calibri"/>
              </a:rPr>
              <a:t>Baseline accuracy
when they act</a:t>
            </a:r>
          </a:p>
        </p:txBody>
      </p:sp>
      <p:sp>
        <p:nvSpPr>
          <p:cNvPr id="153" name="Stat 153"/>
          <p:cNvSpPr/>
          <p:nvPr/>
        </p:nvSpPr>
        <p:spPr>
          <a:xfrm>
            <a:off x="3017520" y="2971800"/>
            <a:ext cx="2560320" cy="14630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i="0" dirty="0">
                <a:solidFill>
                  <a:srgbClr val="1C4D98"/>
                </a:solidFill>
                <a:latin typeface="Calibri"/>
                <a:cs typeface="Calibri"/>
              </a:rPr>
              <a:t>7 / 11</a:t>
            </a:r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500" b="0" i="0" dirty="0">
                <a:solidFill>
                  <a:srgbClr val="242424"/>
                </a:solidFill>
                <a:latin typeface="Calibri"/>
                <a:cs typeface="Calibri"/>
              </a:rPr>
              <a:t>Auto-repaired and validated
real-data case study</a:t>
            </a:r>
          </a:p>
        </p:txBody>
      </p:sp>
      <p:sp>
        <p:nvSpPr>
          <p:cNvPr id="154" name="Benchmark note"/>
          <p:cNvSpPr txBox="1"/>
          <p:nvPr/>
        </p:nvSpPr>
        <p:spPr>
          <a:xfrm>
            <a:off x="320040" y="4553712"/>
            <a:ext cx="5257800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50" b="0" i="1" dirty="0">
                <a:solidFill>
                  <a:srgbClr val="595959"/>
                </a:solidFill>
                <a:latin typeface="Calibri"/>
                <a:cs typeface="Calibri"/>
              </a:rPr>
              <a:t>Benchmark: Titanic, Adult Income, German Credit × 10 seeds, automatic column selection.</a:t>
            </a:r>
          </a:p>
        </p:txBody>
      </p:sp>
      <p:sp>
        <p:nvSpPr>
          <p:cNvPr id="155" name="How to read"/>
          <p:cNvSpPr/>
          <p:nvPr/>
        </p:nvSpPr>
        <p:spPr>
          <a:xfrm>
            <a:off x="5852160" y="1371600"/>
            <a:ext cx="5029200" cy="3840480"/>
          </a:xfrm>
          <a:prstGeom prst="roundRect">
            <a:avLst>
              <a:gd name="adj" fmla="val 3500"/>
            </a:avLst>
          </a:prstGeom>
          <a:solidFill>
            <a:srgbClr val="EEF3FB"/>
          </a:solidFill>
          <a:ln>
            <a:noFill/>
          </a:ln>
        </p:spPr>
        <p:txBody>
          <a:bodyPr wrap="square" lIns="182880" tIns="137160" rIns="182880" bIns="9144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i="0" dirty="0">
                <a:solidFill>
                  <a:srgbClr val="1C4D98"/>
                </a:solidFill>
                <a:latin typeface="Calibri"/>
                <a:cs typeface="Calibri"/>
              </a:rPr>
              <a:t>How to read these results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Nothing injected was missed, and the proposed system never made a wrong repair.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600" b="1" i="0" dirty="0">
                <a:solidFill>
                  <a:srgbClr val="1C4D98"/>
                </a:solidFill>
                <a:latin typeface="Calibri"/>
                <a:cs typeface="Calibri"/>
              </a:rPr>
              <a:t>Baselines are a coin flip</a:t>
            </a: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 when they act on every flag.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600" b="1" i="0" dirty="0">
                <a:solidFill>
                  <a:srgbClr val="1C4D98"/>
                </a:solidFill>
                <a:latin typeface="Calibri"/>
                <a:cs typeface="Calibri"/>
              </a:rPr>
              <a:t>Benchmark autonomy of 0% is partly structural:</a:t>
            </a: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 outliers are manual by design, and duplicates had no evidence gatherer yet – so it does not prove gating is merely conservative.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The format-noise path shows safe autonomy is possible where a repair can be proven lossless.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Findings: Real-Data Case Study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Dataset Forensics Agent</a:t>
            </a:r>
          </a:p>
          <a:p>
            <a:pPr algn="r"/>
            <a:endParaRPr lang="en-US" dirty="0"/>
          </a:p>
        </p:txBody>
      </p:sp>
      <p:graphicFrame>
        <p:nvGraphicFramePr>
          <p:cNvPr id="160" name="Case stud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294470"/>
              </p:ext>
            </p:extLst>
          </p:nvPr>
        </p:nvGraphicFramePr>
        <p:xfrm>
          <a:off x="320039" y="1325879"/>
          <a:ext cx="10726961" cy="3890694"/>
        </p:xfrm>
        <a:graphic>
          <a:graphicData uri="http://schemas.openxmlformats.org/drawingml/2006/table">
            <a:tbl>
              <a:tblPr firstRow="1" bandRow="1"/>
              <a:tblGrid>
                <a:gridCol w="3606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8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84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What was found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Decision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Why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1C4D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4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6 columns: Peak, All Time Peak, Actual / Adjusted / Average gross, Tour title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i="0" dirty="0">
                          <a:solidFill>
                            <a:srgbClr val="1E6B3A"/>
                          </a:solidFill>
                          <a:latin typeface="Calibri"/>
                          <a:cs typeface="Calibri"/>
                        </a:rPr>
                        <a:t>Auto-repaired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E3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Footnote marks, $ signs, commas and † ‡ symbols stripped; dry-run and independent re-check passed; nothing lost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4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Column headers with hidden non-breaking spaces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i="0" dirty="0">
                          <a:solidFill>
                            <a:srgbClr val="1E6B3A"/>
                          </a:solidFill>
                          <a:latin typeface="Calibri"/>
                          <a:cs typeface="Calibri"/>
                        </a:rPr>
                        <a:t>Auto-repaired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E3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Normalized to plain spaces; no name collisions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4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Missing values in Peak (55%) and All Time Peak (70%)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i="0" dirty="0">
                          <a:solidFill>
                            <a:srgbClr val="9B2C2C"/>
                          </a:solidFill>
                          <a:latin typeface="Calibri"/>
                          <a:cs typeface="Calibri"/>
                        </a:rPr>
                        <a:t>Human review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Blank in the source; imputing would invent chart positions (confidence 0.00)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4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Shows outlier (325, 203, 156)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i="0" dirty="0">
                          <a:solidFill>
                            <a:srgbClr val="9B2C2C"/>
                          </a:solidFill>
                          <a:latin typeface="Calibri"/>
                          <a:cs typeface="Calibri"/>
                        </a:rPr>
                        <a:t>Human review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Genuine values for very long tours; correction is manual by design (0.15)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4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Ref. column made only of footnote markers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i="0" dirty="0">
                          <a:solidFill>
                            <a:srgbClr val="9B2C2C"/>
                          </a:solidFill>
                          <a:latin typeface="Calibri"/>
                          <a:cs typeface="Calibri"/>
                        </a:rPr>
                        <a:t>Human review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Cleaning would erase every cell, so auto-repair is not permitted (0.00)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1" name="Case note"/>
          <p:cNvSpPr/>
          <p:nvPr/>
        </p:nvSpPr>
        <p:spPr>
          <a:xfrm>
            <a:off x="439961" y="5532120"/>
            <a:ext cx="10607040" cy="54864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>
            <a:noFill/>
          </a:ln>
        </p:spPr>
        <p:txBody>
          <a:bodyPr wrap="square" lIns="164592" tIns="36576" rIns="137160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50" b="1" i="0" dirty="0">
                <a:solidFill>
                  <a:srgbClr val="1C4D98"/>
                </a:solidFill>
                <a:latin typeface="Calibri"/>
                <a:cs typeface="Calibri"/>
              </a:rPr>
              <a:t>Outcome:</a:t>
            </a:r>
            <a:r>
              <a:rPr lang="en-US" sz="1350" b="0" i="0" dirty="0">
                <a:solidFill>
                  <a:srgbClr val="242424"/>
                </a:solidFill>
                <a:latin typeface="Calibri"/>
                <a:cs typeface="Calibri"/>
              </a:rPr>
              <a:t> 11 issues found, 7 auto-repaired and validated, 4 sent to review. 20 rows in and out; the 25 genuine blanks were preserved, not fabricated.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450"/>
              </a:spcBef>
            </a:pPr>
            <a:r>
              <a:rPr lang="en-US" sz="2000" b="0" i="0" dirty="0">
                <a:solidFill>
                  <a:srgbClr val="242424"/>
                </a:solidFill>
                <a:latin typeface="Calibri"/>
                <a:cs typeface="Calibri"/>
              </a:rPr>
              <a:t>Evidence-gating kept the </a:t>
            </a:r>
            <a:r>
              <a:rPr lang="en-US" sz="2000" b="1" i="0" dirty="0">
                <a:solidFill>
                  <a:srgbClr val="1C4D98"/>
                </a:solidFill>
                <a:latin typeface="Calibri"/>
                <a:cs typeface="Calibri"/>
              </a:rPr>
              <a:t>false-repair rate at 0.0</a:t>
            </a:r>
            <a:r>
              <a:rPr lang="en-US" sz="2000" b="0" i="0" dirty="0">
                <a:solidFill>
                  <a:srgbClr val="242424"/>
                </a:solidFill>
                <a:latin typeface="Calibri"/>
                <a:cs typeface="Calibri"/>
              </a:rPr>
              <a:t> across 30 trials while detection recall stayed at 1.0.</a:t>
            </a:r>
          </a:p>
          <a:p>
            <a:pPr>
              <a:lnSpc>
                <a:spcPct val="100000"/>
              </a:lnSpc>
              <a:spcBef>
                <a:spcPts val="450"/>
              </a:spcBef>
            </a:pPr>
            <a:r>
              <a:rPr lang="en-US" sz="2000" b="0" i="0" dirty="0">
                <a:solidFill>
                  <a:srgbClr val="242424"/>
                </a:solidFill>
                <a:latin typeface="Calibri"/>
                <a:cs typeface="Calibri"/>
              </a:rPr>
              <a:t>Baselines that act on every flag were right only about </a:t>
            </a:r>
            <a:r>
              <a:rPr lang="en-US" sz="2000" b="1" i="0" dirty="0">
                <a:solidFill>
                  <a:srgbClr val="1C4D98"/>
                </a:solidFill>
                <a:latin typeface="Calibri"/>
                <a:cs typeface="Calibri"/>
              </a:rPr>
              <a:t>half the time</a:t>
            </a:r>
            <a:r>
              <a:rPr lang="en-US" sz="2000" b="0" i="0" dirty="0">
                <a:solidFill>
                  <a:srgbClr val="242424"/>
                </a:solidFill>
                <a:latin typeface="Calibri"/>
                <a:cs typeface="Calibri"/>
              </a:rPr>
              <a:t>.</a:t>
            </a:r>
          </a:p>
          <a:p>
            <a:pPr>
              <a:lnSpc>
                <a:spcPct val="100000"/>
              </a:lnSpc>
              <a:spcBef>
                <a:spcPts val="450"/>
              </a:spcBef>
            </a:pPr>
            <a:r>
              <a:rPr lang="en-US" sz="2000" b="0" i="0" dirty="0">
                <a:solidFill>
                  <a:srgbClr val="242424"/>
                </a:solidFill>
                <a:latin typeface="Calibri"/>
                <a:cs typeface="Calibri"/>
              </a:rPr>
              <a:t>Benchmark autonomy of 0% was </a:t>
            </a:r>
            <a:r>
              <a:rPr lang="en-US" sz="2000" b="1" i="0" dirty="0">
                <a:solidFill>
                  <a:srgbClr val="1C4D98"/>
                </a:solidFill>
                <a:latin typeface="Calibri"/>
                <a:cs typeface="Calibri"/>
              </a:rPr>
              <a:t>partly structural</a:t>
            </a:r>
            <a:r>
              <a:rPr lang="en-US" sz="2000" b="0" i="0" dirty="0">
                <a:solidFill>
                  <a:srgbClr val="242424"/>
                </a:solidFill>
                <a:latin typeface="Calibri"/>
                <a:cs typeface="Calibri"/>
              </a:rPr>
              <a:t>, so it is not proof that gating is merely conservative.</a:t>
            </a:r>
          </a:p>
          <a:p>
            <a:pPr>
              <a:lnSpc>
                <a:spcPct val="100000"/>
              </a:lnSpc>
              <a:spcBef>
                <a:spcPts val="450"/>
              </a:spcBef>
            </a:pPr>
            <a:r>
              <a:rPr lang="en-US" sz="2000" b="0" i="0" dirty="0">
                <a:solidFill>
                  <a:srgbClr val="242424"/>
                </a:solidFill>
                <a:latin typeface="Calibri"/>
                <a:cs typeface="Calibri"/>
              </a:rPr>
              <a:t>Repairs that can be </a:t>
            </a:r>
            <a:r>
              <a:rPr lang="en-US" sz="2000" b="1" i="0" dirty="0">
                <a:solidFill>
                  <a:srgbClr val="1C4D98"/>
                </a:solidFill>
                <a:latin typeface="Calibri"/>
                <a:cs typeface="Calibri"/>
              </a:rPr>
              <a:t>proven lossless</a:t>
            </a:r>
            <a:r>
              <a:rPr lang="en-US" sz="2000" b="0" i="0" dirty="0">
                <a:solidFill>
                  <a:srgbClr val="242424"/>
                </a:solidFill>
                <a:latin typeface="Calibri"/>
                <a:cs typeface="Calibri"/>
              </a:rPr>
              <a:t> can be automated: 7 of 11 issues on a real file, with zero data loss.</a:t>
            </a:r>
          </a:p>
          <a:p>
            <a:pPr marL="0" indent="0">
              <a:lnSpc>
                <a:spcPct val="100000"/>
              </a:lnSpc>
              <a:spcBef>
                <a:spcPts val="750"/>
              </a:spcBef>
              <a:buNone/>
            </a:pPr>
            <a:r>
              <a:rPr lang="en-US" sz="2200" b="1" i="0" dirty="0">
                <a:solidFill>
                  <a:srgbClr val="5583D1"/>
                </a:solidFill>
                <a:latin typeface="Calibri"/>
                <a:cs typeface="Calibri"/>
              </a:rPr>
              <a:t>Future work</a:t>
            </a:r>
          </a:p>
          <a:p>
            <a:pPr>
              <a:lnSpc>
                <a:spcPct val="100000"/>
              </a:lnSpc>
              <a:spcBef>
                <a:spcPts val="450"/>
              </a:spcBef>
            </a:pPr>
            <a:r>
              <a:rPr lang="en-US" sz="2000" b="0" i="0" dirty="0">
                <a:solidFill>
                  <a:srgbClr val="242424"/>
                </a:solidFill>
                <a:latin typeface="Calibri"/>
                <a:cs typeface="Calibri"/>
              </a:rPr>
              <a:t>Inject format noise into the benchmark and re-run the 30 trials; add the duplicate-evidence gatherer.</a:t>
            </a:r>
          </a:p>
          <a:p>
            <a:pPr>
              <a:lnSpc>
                <a:spcPct val="100000"/>
              </a:lnSpc>
              <a:spcBef>
                <a:spcPts val="450"/>
              </a:spcBef>
            </a:pPr>
            <a:r>
              <a:rPr lang="en-US" sz="2000" b="0" i="0" dirty="0">
                <a:solidFill>
                  <a:srgbClr val="242424"/>
                </a:solidFill>
                <a:latin typeface="Calibri"/>
                <a:cs typeface="Calibri"/>
              </a:rPr>
              <a:t>Verify Docker and Azure deployment; add a human-approved step for resolving blanks.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Dataset Forensics Agent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I sincerely thank my </a:t>
            </a:r>
            <a:r>
              <a:rPr lang="en-US" sz="2400" b="1" i="0" dirty="0">
                <a:solidFill>
                  <a:srgbClr val="1C4D98"/>
                </a:solidFill>
                <a:latin typeface="Calibri"/>
                <a:cs typeface="Calibri"/>
              </a:rPr>
              <a:t>project guide</a:t>
            </a: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 and the </a:t>
            </a:r>
            <a:r>
              <a:rPr lang="en-US" sz="2400" b="1" i="0" dirty="0">
                <a:solidFill>
                  <a:srgbClr val="1C4D98"/>
                </a:solidFill>
                <a:latin typeface="Calibri"/>
                <a:cs typeface="Calibri"/>
              </a:rPr>
              <a:t>university faculty</a:t>
            </a: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 for their guidance, feedback and encouragement throughout this project.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I am grateful to the </a:t>
            </a:r>
            <a:r>
              <a:rPr lang="en-US" sz="2400" b="1" i="0" dirty="0">
                <a:solidFill>
                  <a:srgbClr val="1C4D98"/>
                </a:solidFill>
                <a:latin typeface="Calibri"/>
                <a:cs typeface="Calibri"/>
              </a:rPr>
              <a:t>mentors at LTIMindTree</a:t>
            </a: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 for industry perspective, and to the L&amp;T EduTech programme team for their support.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Thanks to the open-source communities behind </a:t>
            </a:r>
            <a:r>
              <a:rPr lang="en-US" sz="2400" b="1" i="0" dirty="0">
                <a:solidFill>
                  <a:srgbClr val="1C4D98"/>
                </a:solidFill>
                <a:latin typeface="Calibri"/>
                <a:cs typeface="Calibri"/>
              </a:rPr>
              <a:t>Ollama, LangGraph, pandas, FastAPI and Streamlit</a:t>
            </a: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, which made a fully local system possible.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Dataset Forensics Agent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45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[1] X. Chu, I. F. Ilyas, S. Krishnan, J. Wang. Data Cleaning: Overview and Emerging Challenges. SIGMOD 2016 (tutorial).</a:t>
            </a:r>
          </a:p>
          <a:p>
            <a:pPr>
              <a:lnSpc>
                <a:spcPct val="100000"/>
              </a:lnSpc>
              <a:spcBef>
                <a:spcPts val="45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[2] T. Rekatsinas, X. Chu, I. F. Ilyas, C. Ré. HoloClean: Holistic Data Repairs with Probabilistic Inference. PVLDB 10(11), 2017.</a:t>
            </a:r>
          </a:p>
          <a:p>
            <a:pPr>
              <a:lnSpc>
                <a:spcPct val="100000"/>
              </a:lnSpc>
              <a:spcBef>
                <a:spcPts val="45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[3] M. Mahdavi, Z. Abedjan. Baran: Effective Error Correction via a Unified Context Representation and Transfer Learning. PVLDB 13(11), 2020.</a:t>
            </a:r>
          </a:p>
          <a:p>
            <a:pPr>
              <a:lnSpc>
                <a:spcPct val="100000"/>
              </a:lnSpc>
              <a:spcBef>
                <a:spcPts val="45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[4] S. Schelter et al. Automating Large-Scale Data Quality Verification. PVLDB 11(12), 2018.</a:t>
            </a:r>
          </a:p>
          <a:p>
            <a:pPr>
              <a:lnSpc>
                <a:spcPct val="100000"/>
              </a:lnSpc>
              <a:spcBef>
                <a:spcPts val="45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[5] A. Narayan, I. Chami, L. Orr, C. Ré. Can Foundation Models Wrangle Your Data? PVLDB 16(4), 2022.</a:t>
            </a:r>
          </a:p>
          <a:p>
            <a:pPr>
              <a:lnSpc>
                <a:spcPct val="100000"/>
              </a:lnSpc>
              <a:spcBef>
                <a:spcPts val="45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[6] D. Qi, J. Wang. CleanAgent: Automating Data Standardization with LLM-based Agents. arXiv:2403.08291, 2024.</a:t>
            </a:r>
          </a:p>
          <a:p>
            <a:pPr>
              <a:lnSpc>
                <a:spcPct val="100000"/>
              </a:lnSpc>
              <a:spcBef>
                <a:spcPts val="45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[7] S. Yao et al. ReAct: Synergizing Reasoning and Acting in Language Models. ICLR 2023.</a:t>
            </a:r>
          </a:p>
          <a:p>
            <a:pPr>
              <a:lnSpc>
                <a:spcPct val="100000"/>
              </a:lnSpc>
              <a:spcBef>
                <a:spcPts val="45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[8] Y. Geifman, R. El-Yaniv. Selective Classification for Deep Neural Networks. NeurIPS 2017.</a:t>
            </a:r>
          </a:p>
          <a:p>
            <a:pPr>
              <a:lnSpc>
                <a:spcPct val="100000"/>
              </a:lnSpc>
              <a:spcBef>
                <a:spcPts val="45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[9] M. Mahdavi et al. Raha: A Configuration-Free Error Detection System. SIGMOD 2019.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Dataset Forensics Agent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2826</TotalTime>
  <Words>1428</Words>
  <Application>Microsoft Office PowerPoint</Application>
  <PresentationFormat>Widescreen</PresentationFormat>
  <Paragraphs>152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Lakshmi Sandeep Nidubrolu</cp:lastModifiedBy>
  <cp:revision>25</cp:revision>
  <dcterms:created xsi:type="dcterms:W3CDTF">2024-05-13T10:33:11Z</dcterms:created>
  <dcterms:modified xsi:type="dcterms:W3CDTF">2026-10-12T04:54:27Z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